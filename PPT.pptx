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Default Extension="svg" ContentType="image/svg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</p:sldIdLst>
  <p:sldSz cx="18288000" cy="10287000"/>
  <p:notesSz cx="6858000" cy="9144000"/>
  <p:embeddedFontLst>
    <p:embeddedFont>
      <p:font typeface="Calibri" pitchFamily="34" charset="0"/>
      <p:regular r:id="rId18"/>
      <p:bold r:id="rId19"/>
      <p:italic r:id="rId20"/>
      <p:boldItalic r:id="rId21"/>
    </p:embeddedFont>
    <p:embeddedFont>
      <p:font typeface="Times New Roman MT" charset="0"/>
      <p:regular r:id="rId22"/>
    </p:embeddedFont>
    <p:embeddedFont>
      <p:font typeface="Times New Roman MT Bold" charset="0"/>
      <p:regular r:id="rId23"/>
    </p:embeddedFont>
    <p:embeddedFont>
      <p:font typeface="Open Sans Bold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 autoAdjust="0"/>
    <p:restoredTop sz="94622" autoAdjust="0"/>
  </p:normalViewPr>
  <p:slideViewPr>
    <p:cSldViewPr>
      <p:cViewPr varScale="1">
        <p:scale>
          <a:sx n="53" d="100"/>
          <a:sy n="53" d="100"/>
        </p:scale>
        <p:origin x="-754" y="-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video" Target="file:///C:\Users\Dell\OneDrive\Pictures\Camera%20imports\Recording%202025-10-07%20153308.mp4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67024" y="0"/>
            <a:ext cx="3179313" cy="10287000"/>
            <a:chOff x="0" y="0"/>
            <a:chExt cx="4239083" cy="13716000"/>
          </a:xfrm>
        </p:grpSpPr>
        <p:grpSp>
          <p:nvGrpSpPr>
            <p:cNvPr id="3" name="Group 3"/>
            <p:cNvGrpSpPr/>
            <p:nvPr/>
          </p:nvGrpSpPr>
          <p:grpSpPr>
            <a:xfrm>
              <a:off x="1413028" y="0"/>
              <a:ext cx="2826056" cy="13716000"/>
              <a:chOff x="0" y="0"/>
              <a:chExt cx="558233" cy="2709333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558233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558233" h="2709333">
                    <a:moveTo>
                      <a:pt x="0" y="0"/>
                    </a:moveTo>
                    <a:lnTo>
                      <a:pt x="558233" y="0"/>
                    </a:lnTo>
                    <a:lnTo>
                      <a:pt x="558233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47625"/>
                <a:ext cx="558233" cy="275695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826056" cy="13716000"/>
              <a:chOff x="0" y="0"/>
              <a:chExt cx="558233" cy="2709333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558233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558233" h="2709333">
                    <a:moveTo>
                      <a:pt x="0" y="0"/>
                    </a:moveTo>
                    <a:lnTo>
                      <a:pt x="558233" y="0"/>
                    </a:lnTo>
                    <a:lnTo>
                      <a:pt x="558233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solidFill>
                <a:srgbClr val="E9C7C6"/>
              </a:solidFill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47625"/>
                <a:ext cx="558233" cy="275695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9" name="TextBox 9"/>
          <p:cNvSpPr txBox="1"/>
          <p:nvPr/>
        </p:nvSpPr>
        <p:spPr>
          <a:xfrm>
            <a:off x="4633952" y="1778273"/>
            <a:ext cx="12068790" cy="3936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73"/>
              </a:lnSpc>
            </a:pPr>
            <a:r>
              <a:rPr lang="en-US" sz="760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CIRCUITGUARD – PCB DEFECT DETECTION AND CLASSIFICATION APPLICATION</a:t>
            </a:r>
          </a:p>
        </p:txBody>
      </p:sp>
      <p:sp>
        <p:nvSpPr>
          <p:cNvPr id="10" name="Freeform 10"/>
          <p:cNvSpPr/>
          <p:nvPr/>
        </p:nvSpPr>
        <p:spPr>
          <a:xfrm>
            <a:off x="12646898" y="-210192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4"/>
                </a:lnTo>
                <a:lnTo>
                  <a:pt x="0" y="24777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4633952" y="6383808"/>
            <a:ext cx="12625348" cy="1782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69"/>
              </a:lnSpc>
            </a:pPr>
            <a:r>
              <a:rPr lang="en-US" sz="4835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Presented By : Harshini Reddy</a:t>
            </a:r>
          </a:p>
          <a:p>
            <a:pPr algn="ctr">
              <a:lnSpc>
                <a:spcPts val="6769"/>
              </a:lnSpc>
            </a:pPr>
            <a:r>
              <a:rPr lang="en-US" sz="4835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Mentor : Pranaya</a:t>
            </a:r>
          </a:p>
        </p:txBody>
      </p:sp>
      <p:sp>
        <p:nvSpPr>
          <p:cNvPr id="12" name="Freeform 12"/>
          <p:cNvSpPr/>
          <p:nvPr/>
        </p:nvSpPr>
        <p:spPr>
          <a:xfrm>
            <a:off x="11118095" y="9258300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94349" y="3243812"/>
            <a:ext cx="14705320" cy="5447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Printed Circuit Boards (PCBs) form the backbone of almost every electronic device  from mobiles and computers to cars, medical equipment, and industrial machines.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Even minor defects such as broken tracks, short circuits, or missing components can lead to device malfunction, safety hazards, or financial losses.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Manual inspection of PCBs is traditionally done using human operators, which is : Slow and time-consuming, Costly due to labor involvement.</a:t>
            </a:r>
          </a:p>
          <a:p>
            <a:pPr algn="l">
              <a:lnSpc>
                <a:spcPts val="4759"/>
              </a:lnSpc>
            </a:pPr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319629" y="1258506"/>
            <a:ext cx="13180039" cy="1294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20"/>
              </a:lnSpc>
            </a:pPr>
            <a:r>
              <a:rPr lang="en-US" sz="68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INTRODUCTION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5" name="Group 5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-1902487" y="0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859155" y="6953523"/>
            <a:ext cx="2109937" cy="2060066"/>
          </a:xfrm>
          <a:custGeom>
            <a:avLst/>
            <a:gdLst/>
            <a:ahLst/>
            <a:cxnLst/>
            <a:rect l="l" t="t" r="r" b="b"/>
            <a:pathLst>
              <a:path w="2109937" h="2060066">
                <a:moveTo>
                  <a:pt x="0" y="0"/>
                </a:moveTo>
                <a:lnTo>
                  <a:pt x="2109938" y="0"/>
                </a:lnTo>
                <a:lnTo>
                  <a:pt x="2109938" y="2060066"/>
                </a:lnTo>
                <a:lnTo>
                  <a:pt x="0" y="20600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860387" y="752475"/>
            <a:ext cx="13180039" cy="1353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40"/>
              </a:lnSpc>
            </a:pPr>
            <a:r>
              <a:rPr lang="en-US" sz="71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PROJECT STATEMENT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559898" y="2759717"/>
            <a:ext cx="15418475" cy="7099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8" lvl="1" indent="-431799" algn="l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Objective:</a:t>
            </a:r>
            <a:r>
              <a:rPr lang="en-US" sz="39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Build an automated PCB defect detection &amp; classification system.</a:t>
            </a:r>
          </a:p>
          <a:p>
            <a:pPr marL="863598" lvl="1" indent="-431799" algn="l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Approach:</a:t>
            </a:r>
          </a:p>
          <a:p>
            <a:pPr marL="863598" lvl="1" indent="-431799" algn="l">
              <a:lnSpc>
                <a:spcPts val="5599"/>
              </a:lnSpc>
              <a:buAutoNum type="arabicPeriod"/>
            </a:pPr>
            <a:r>
              <a:rPr lang="en-US" sz="39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Compare test PCB with defect-free template.</a:t>
            </a:r>
          </a:p>
          <a:p>
            <a:pPr marL="863598" lvl="1" indent="-431799" algn="l">
              <a:lnSpc>
                <a:spcPts val="5599"/>
              </a:lnSpc>
              <a:buAutoNum type="arabicPeriod"/>
            </a:pPr>
            <a:r>
              <a:rPr lang="en-US" sz="39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Extract and highlight defect regions.</a:t>
            </a:r>
          </a:p>
          <a:p>
            <a:pPr marL="863598" lvl="1" indent="-431799" algn="l">
              <a:lnSpc>
                <a:spcPts val="5599"/>
              </a:lnSpc>
              <a:buAutoNum type="arabicPeriod"/>
            </a:pPr>
            <a:r>
              <a:rPr lang="en-US" sz="39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Classify defects using EfficientNet CNN.</a:t>
            </a:r>
          </a:p>
          <a:p>
            <a:pPr marL="863598" lvl="1" indent="-431799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Deliverable: A frontend web app where users upload PCB images and receive annotated outputs.</a:t>
            </a:r>
          </a:p>
          <a:p>
            <a:pPr marL="863598" lvl="1" indent="-431799" algn="l">
              <a:lnSpc>
                <a:spcPts val="55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Summary: An end-to-end pipeline for PCB inspection.</a:t>
            </a:r>
          </a:p>
          <a:p>
            <a:pPr algn="l">
              <a:lnSpc>
                <a:spcPts val="5599"/>
              </a:lnSpc>
            </a:pPr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5" name="Group 5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2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-3388814" y="328285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4"/>
                </a:lnTo>
                <a:lnTo>
                  <a:pt x="0" y="24777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3601700" y="6142060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834302" y="3593141"/>
            <a:ext cx="5246391" cy="5246370"/>
            <a:chOff x="0" y="0"/>
            <a:chExt cx="6350025" cy="6350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26" cy="6350000"/>
            </a:xfrm>
            <a:custGeom>
              <a:avLst/>
              <a:gdLst/>
              <a:ahLst/>
              <a:cxnLst/>
              <a:rect l="l" t="t" r="r" b="b"/>
              <a:pathLst>
                <a:path w="6350026" h="6350000">
                  <a:moveTo>
                    <a:pt x="0" y="0"/>
                  </a:moveTo>
                  <a:lnTo>
                    <a:pt x="6350026" y="0"/>
                  </a:lnTo>
                  <a:lnTo>
                    <a:pt x="6350026" y="6350000"/>
                  </a:lnTo>
                  <a:lnTo>
                    <a:pt x="0" y="6350000"/>
                  </a:lnTo>
                  <a:close/>
                </a:path>
              </a:pathLst>
            </a:custGeom>
            <a:blipFill>
              <a:blip r:embed="rId2"/>
              <a:stretch>
                <a:fillRect l="-55262" r="-55262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2553980" y="336556"/>
            <a:ext cx="13180039" cy="133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00"/>
              </a:lnSpc>
            </a:pPr>
            <a:r>
              <a:rPr lang="en-US" sz="70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OBJECTIVES &amp; OUTCOMES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6" name="Group 6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3</a:t>
              </a:r>
            </a:p>
          </p:txBody>
        </p:sp>
      </p:grpSp>
      <p:sp>
        <p:nvSpPr>
          <p:cNvPr id="10" name="Freeform 10"/>
          <p:cNvSpPr/>
          <p:nvPr/>
        </p:nvSpPr>
        <p:spPr>
          <a:xfrm>
            <a:off x="-4366378" y="152351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390942" y="2134242"/>
            <a:ext cx="10793714" cy="7847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Objectives: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Automate the PCB defect detection process.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Accurately classify defects into predefined categories.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Develop a complete frontend + backend application for end users.</a:t>
            </a:r>
          </a:p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Outcomes: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Effective detection using image subtraction &amp; contour extraction.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High accuracy defect classification with EfficientNet CNN (≈95%).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Functional web app to upload images, view annotated outputs, and export logs.</a:t>
            </a:r>
          </a:p>
          <a:p>
            <a:pPr algn="l">
              <a:lnSpc>
                <a:spcPts val="4759"/>
              </a:lnSpc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562076"/>
            <a:ext cx="16631177" cy="8764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12470" lvl="1" indent="-356235" algn="l">
              <a:lnSpc>
                <a:spcPts val="4620"/>
              </a:lnSpc>
              <a:spcBef>
                <a:spcPct val="0"/>
              </a:spcBef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Source: Adapted from DeepPCB benchmark dataset.</a:t>
            </a:r>
          </a:p>
          <a:p>
            <a:pPr marL="712470" lvl="1" indent="-356235" algn="l">
              <a:lnSpc>
                <a:spcPts val="4620"/>
              </a:lnSpc>
              <a:spcBef>
                <a:spcPct val="0"/>
              </a:spcBef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Structure: Paired images — defect-free template + defective PCB sample with annotations.</a:t>
            </a:r>
          </a:p>
          <a:p>
            <a:pPr marL="712470" lvl="1" indent="-356235" algn="l">
              <a:lnSpc>
                <a:spcPts val="4620"/>
              </a:lnSpc>
              <a:spcBef>
                <a:spcPct val="0"/>
              </a:spcBef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Tasks Supported:</a:t>
            </a:r>
          </a:p>
          <a:p>
            <a:pPr marL="1424940" lvl="2" indent="-474980" algn="l">
              <a:lnSpc>
                <a:spcPts val="4620"/>
              </a:lnSpc>
              <a:spcBef>
                <a:spcPct val="0"/>
              </a:spcBef>
              <a:buAutoNum type="alphaLcPeriod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Detect if a PCB has a defect.</a:t>
            </a:r>
          </a:p>
          <a:p>
            <a:pPr marL="1424940" lvl="2" indent="-474980" algn="l">
              <a:lnSpc>
                <a:spcPts val="4620"/>
              </a:lnSpc>
              <a:spcBef>
                <a:spcPct val="0"/>
              </a:spcBef>
              <a:buAutoNum type="alphaLcPeriod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Locate defects using bounding boxes.</a:t>
            </a:r>
          </a:p>
          <a:p>
            <a:pPr marL="1424940" lvl="2" indent="-474980" algn="l">
              <a:lnSpc>
                <a:spcPts val="4620"/>
              </a:lnSpc>
              <a:spcBef>
                <a:spcPct val="0"/>
              </a:spcBef>
              <a:buAutoNum type="alphaLcPeriod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Classify defect types using deep learning.</a:t>
            </a:r>
          </a:p>
          <a:p>
            <a:pPr algn="l">
              <a:lnSpc>
                <a:spcPts val="4620"/>
              </a:lnSpc>
              <a:spcBef>
                <a:spcPct val="0"/>
              </a:spcBef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Defect Types (693 images total):</a:t>
            </a:r>
          </a:p>
          <a:p>
            <a:pPr marL="712470" lvl="1" indent="-356235" algn="l">
              <a:lnSpc>
                <a:spcPts val="4620"/>
              </a:lnSpc>
              <a:spcBef>
                <a:spcPct val="0"/>
              </a:spcBef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Missing Hole: 115</a:t>
            </a:r>
          </a:p>
          <a:p>
            <a:pPr marL="712470" lvl="1" indent="-356235" algn="l">
              <a:lnSpc>
                <a:spcPts val="4620"/>
              </a:lnSpc>
              <a:spcBef>
                <a:spcPct val="0"/>
              </a:spcBef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Mouse Bite: 115</a:t>
            </a:r>
          </a:p>
          <a:p>
            <a:pPr marL="712470" lvl="1" indent="-356235" algn="l">
              <a:lnSpc>
                <a:spcPts val="4620"/>
              </a:lnSpc>
              <a:spcBef>
                <a:spcPct val="0"/>
              </a:spcBef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Open Circuit: 116</a:t>
            </a:r>
          </a:p>
          <a:p>
            <a:pPr marL="712470" lvl="1" indent="-356235" algn="l">
              <a:lnSpc>
                <a:spcPts val="4620"/>
              </a:lnSpc>
              <a:spcBef>
                <a:spcPct val="0"/>
              </a:spcBef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Short Circuit: 116</a:t>
            </a:r>
          </a:p>
          <a:p>
            <a:pPr marL="712470" lvl="1" indent="-356235" algn="l">
              <a:lnSpc>
                <a:spcPts val="4620"/>
              </a:lnSpc>
              <a:spcBef>
                <a:spcPct val="0"/>
              </a:spcBef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Spur: 115</a:t>
            </a:r>
          </a:p>
          <a:p>
            <a:pPr marL="712470" lvl="1" indent="-356235" algn="l">
              <a:lnSpc>
                <a:spcPts val="4620"/>
              </a:lnSpc>
              <a:spcBef>
                <a:spcPct val="0"/>
              </a:spcBef>
              <a:buFont typeface="Arial"/>
              <a:buChar char="•"/>
            </a:pPr>
            <a:r>
              <a:rPr lang="en-US" sz="33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Spurious Copper: 116</a:t>
            </a:r>
          </a:p>
          <a:p>
            <a:pPr algn="l">
              <a:lnSpc>
                <a:spcPts val="4620"/>
              </a:lnSpc>
              <a:spcBef>
                <a:spcPct val="0"/>
              </a:spcBef>
            </a:pPr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13817351" y="4622345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2298445" y="8991248"/>
            <a:ext cx="5633706" cy="1295752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2160201" y="88263"/>
            <a:ext cx="13714550" cy="12350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99"/>
              </a:lnSpc>
              <a:spcBef>
                <a:spcPct val="0"/>
              </a:spcBef>
            </a:pPr>
            <a:r>
              <a:rPr lang="en-US" sz="649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DataSet Description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918390" y="638175"/>
            <a:ext cx="10451219" cy="1395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20"/>
              </a:lnSpc>
            </a:pPr>
            <a:r>
              <a:rPr lang="en-US" sz="73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SYSTEM WORKFLOW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968772" y="2030887"/>
            <a:ext cx="14939587" cy="7813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12"/>
              </a:lnSpc>
            </a:pPr>
            <a:r>
              <a:rPr lang="en-US" sz="400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Step-by-step process:</a:t>
            </a:r>
          </a:p>
          <a:p>
            <a:pPr marL="865593" lvl="1" indent="-432796" algn="l">
              <a:lnSpc>
                <a:spcPts val="5612"/>
              </a:lnSpc>
              <a:buAutoNum type="arabicPeriod"/>
            </a:pPr>
            <a:r>
              <a:rPr lang="en-US" sz="40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Image Subtraction → Compare template PCB with test PCB to highlight defects.</a:t>
            </a:r>
          </a:p>
          <a:p>
            <a:pPr marL="865593" lvl="1" indent="-432796" algn="l">
              <a:lnSpc>
                <a:spcPts val="5612"/>
              </a:lnSpc>
              <a:buAutoNum type="arabicPeriod"/>
            </a:pPr>
            <a:r>
              <a:rPr lang="en-US" sz="40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ROI Extraction → Focus only on the defected regions.</a:t>
            </a:r>
          </a:p>
          <a:p>
            <a:pPr marL="865593" lvl="1" indent="-432796" algn="l">
              <a:lnSpc>
                <a:spcPts val="5612"/>
              </a:lnSpc>
              <a:buAutoNum type="arabicPeriod"/>
            </a:pPr>
            <a:r>
              <a:rPr lang="en-US" sz="40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Contour Detection → Draw bounding boxes around suspected defect areas.</a:t>
            </a:r>
          </a:p>
          <a:p>
            <a:pPr marL="865593" lvl="1" indent="-432796" algn="l">
              <a:lnSpc>
                <a:spcPts val="5612"/>
              </a:lnSpc>
              <a:buAutoNum type="arabicPeriod"/>
            </a:pPr>
            <a:r>
              <a:rPr lang="en-US" sz="40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Model Training (EfficientNet-B4) → Train CNN model to classify defects.</a:t>
            </a:r>
          </a:p>
          <a:p>
            <a:pPr marL="865593" lvl="1" indent="-432796" algn="l">
              <a:lnSpc>
                <a:spcPts val="5612"/>
              </a:lnSpc>
              <a:buAutoNum type="arabicPeriod"/>
            </a:pPr>
            <a:r>
              <a:rPr lang="en-US" sz="40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Testing &amp; Validation → Evaluate accuracy and reliability of classification.</a:t>
            </a:r>
          </a:p>
          <a:p>
            <a:pPr algn="l">
              <a:lnSpc>
                <a:spcPts val="5612"/>
              </a:lnSpc>
            </a:pPr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5" name="Group 5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4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7512165" y="-1553858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80152" y="1501775"/>
            <a:ext cx="14860309" cy="8133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10"/>
              </a:lnSpc>
            </a:pPr>
            <a:r>
              <a:rPr lang="en-US" sz="415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6. Frontend (Streamlit Web App)</a:t>
            </a:r>
          </a:p>
          <a:p>
            <a:pPr marL="896057" lvl="1" indent="-448029" algn="l">
              <a:lnSpc>
                <a:spcPts val="5810"/>
              </a:lnSpc>
              <a:buFont typeface="Arial"/>
              <a:buChar char="•"/>
            </a:pPr>
            <a:r>
              <a:rPr lang="en-US" sz="415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Upload PCB image.</a:t>
            </a:r>
          </a:p>
          <a:p>
            <a:pPr marL="896057" lvl="1" indent="-448029" algn="l">
              <a:lnSpc>
                <a:spcPts val="5810"/>
              </a:lnSpc>
              <a:buFont typeface="Arial"/>
              <a:buChar char="•"/>
            </a:pPr>
            <a:r>
              <a:rPr lang="en-US" sz="415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Get annotated output with contours + defect labels.</a:t>
            </a:r>
          </a:p>
          <a:p>
            <a:pPr marL="896057" lvl="1" indent="-448029" algn="l">
              <a:lnSpc>
                <a:spcPts val="5810"/>
              </a:lnSpc>
              <a:buFont typeface="Arial"/>
              <a:buChar char="•"/>
            </a:pPr>
            <a:r>
              <a:rPr lang="en-US" sz="415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Download option available for saving results.</a:t>
            </a:r>
          </a:p>
          <a:p>
            <a:pPr algn="l">
              <a:lnSpc>
                <a:spcPts val="5810"/>
              </a:lnSpc>
            </a:pPr>
            <a:r>
              <a:rPr lang="en-US" sz="415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7. Alternative View </a:t>
            </a:r>
          </a:p>
          <a:p>
            <a:pPr marL="896057" lvl="1" indent="-448029" algn="l">
              <a:lnSpc>
                <a:spcPts val="5810"/>
              </a:lnSpc>
              <a:buFont typeface="Arial"/>
              <a:buChar char="•"/>
            </a:pPr>
            <a:r>
              <a:rPr lang="en-US" sz="415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System also shows only the defected regions by giving the defected image only with our any refernece it compares with the similar images and give the output.</a:t>
            </a:r>
          </a:p>
          <a:p>
            <a:pPr marL="896057" lvl="1" indent="-448029" algn="l">
              <a:lnSpc>
                <a:spcPts val="5810"/>
              </a:lnSpc>
              <a:buFont typeface="Arial"/>
              <a:buChar char="•"/>
            </a:pPr>
            <a:r>
              <a:rPr lang="en-US" sz="415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Helps in identifying specific defects more clearly by comparing similarities.</a:t>
            </a:r>
          </a:p>
          <a:p>
            <a:pPr algn="l">
              <a:lnSpc>
                <a:spcPts val="5810"/>
              </a:lnSpc>
            </a:pPr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627362" y="0"/>
            <a:ext cx="937061" cy="10287000"/>
            <a:chOff x="0" y="0"/>
            <a:chExt cx="246798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798" cy="2709333"/>
            </a:xfrm>
            <a:custGeom>
              <a:avLst/>
              <a:gdLst/>
              <a:ahLst/>
              <a:cxnLst/>
              <a:rect l="l" t="t" r="r" b="b"/>
              <a:pathLst>
                <a:path w="246798" h="2709333">
                  <a:moveTo>
                    <a:pt x="0" y="0"/>
                  </a:moveTo>
                  <a:lnTo>
                    <a:pt x="246798" y="0"/>
                  </a:lnTo>
                  <a:lnTo>
                    <a:pt x="246798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F6F3EB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76200"/>
              <a:ext cx="246798" cy="27855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7" name="Group 7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5</a:t>
              </a:r>
            </a:p>
          </p:txBody>
        </p:sp>
      </p:grpSp>
      <p:sp>
        <p:nvSpPr>
          <p:cNvPr id="11" name="Freeform 11"/>
          <p:cNvSpPr/>
          <p:nvPr/>
        </p:nvSpPr>
        <p:spPr>
          <a:xfrm>
            <a:off x="9697545" y="8788169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4"/>
                </a:lnTo>
                <a:lnTo>
                  <a:pt x="0" y="24777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564423" y="-1641171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4"/>
                </a:lnTo>
                <a:lnTo>
                  <a:pt x="0" y="24777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66670" y="579438"/>
            <a:ext cx="16230600" cy="12445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IMAGE PROCESSING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66670" y="2199782"/>
            <a:ext cx="15524543" cy="764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40"/>
              </a:lnSpc>
            </a:pPr>
            <a:r>
              <a:rPr lang="en-US" sz="31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Tools Used: </a:t>
            </a:r>
            <a:r>
              <a:rPr lang="en-US" sz="31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OpenCV (Python)</a:t>
            </a:r>
          </a:p>
          <a:p>
            <a:pPr algn="just">
              <a:lnSpc>
                <a:spcPts val="4340"/>
              </a:lnSpc>
            </a:pPr>
            <a:r>
              <a:rPr lang="en-US" sz="31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Processing Steps:</a:t>
            </a:r>
          </a:p>
          <a:p>
            <a:pPr marL="669299" lvl="1" indent="-334650" algn="just">
              <a:lnSpc>
                <a:spcPts val="4340"/>
              </a:lnSpc>
              <a:buAutoNum type="arabicPeriod"/>
            </a:pPr>
            <a:r>
              <a:rPr lang="en-US" sz="31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Grayscale Conversion → Convert PCB images to grayscale for easier computation.</a:t>
            </a:r>
          </a:p>
          <a:p>
            <a:pPr marL="669299" lvl="1" indent="-334650" algn="just">
              <a:lnSpc>
                <a:spcPts val="4340"/>
              </a:lnSpc>
              <a:buAutoNum type="arabicPeriod"/>
            </a:pPr>
            <a:r>
              <a:rPr lang="en-US" sz="31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Image Subtraction → Subtract template PCB from test PCB to highlight differences (defects).</a:t>
            </a:r>
          </a:p>
          <a:p>
            <a:pPr marL="669299" lvl="1" indent="-334650" algn="just">
              <a:lnSpc>
                <a:spcPts val="4340"/>
              </a:lnSpc>
              <a:buAutoNum type="arabicPeriod"/>
            </a:pPr>
            <a:r>
              <a:rPr lang="en-US" sz="31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Contour Detection → Identify boundaries of defects and draw bounding boxes.</a:t>
            </a:r>
          </a:p>
          <a:p>
            <a:pPr marL="669299" lvl="1" indent="-334650" algn="just">
              <a:lnSpc>
                <a:spcPts val="4340"/>
              </a:lnSpc>
              <a:buAutoNum type="arabicPeriod"/>
            </a:pPr>
            <a:r>
              <a:rPr lang="en-US" sz="31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ROI Cropping → Extract defect regions as separate images ready for CNN training.</a:t>
            </a:r>
          </a:p>
          <a:p>
            <a:pPr algn="just">
              <a:lnSpc>
                <a:spcPts val="4340"/>
              </a:lnSpc>
            </a:pPr>
            <a:r>
              <a:rPr lang="en-US" sz="31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Result:</a:t>
            </a:r>
          </a:p>
          <a:p>
            <a:pPr marL="669299" lvl="1" indent="-334650" algn="just">
              <a:lnSpc>
                <a:spcPts val="4340"/>
              </a:lnSpc>
              <a:buFont typeface="Arial"/>
              <a:buChar char="•"/>
            </a:pPr>
            <a:r>
              <a:rPr lang="en-US" sz="31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Each defect region is isolated and ready for classification.</a:t>
            </a:r>
          </a:p>
          <a:p>
            <a:pPr marL="669299" lvl="1" indent="-334650" algn="just">
              <a:lnSpc>
                <a:spcPts val="4340"/>
              </a:lnSpc>
              <a:buFont typeface="Arial"/>
              <a:buChar char="•"/>
            </a:pPr>
            <a:r>
              <a:rPr lang="en-US" sz="31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Visuals can include:</a:t>
            </a:r>
          </a:p>
          <a:p>
            <a:pPr marL="1338598" lvl="2" indent="-446199" algn="just">
              <a:lnSpc>
                <a:spcPts val="4340"/>
              </a:lnSpc>
              <a:buAutoNum type="alphaLcPeriod"/>
            </a:pPr>
            <a:r>
              <a:rPr lang="en-US" sz="31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Original PCB</a:t>
            </a:r>
          </a:p>
          <a:p>
            <a:pPr marL="1338598" lvl="2" indent="-446199" algn="just">
              <a:lnSpc>
                <a:spcPts val="4340"/>
              </a:lnSpc>
              <a:buAutoNum type="alphaLcPeriod"/>
            </a:pPr>
            <a:r>
              <a:rPr lang="en-US" sz="31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Subtracted image showing defect areas</a:t>
            </a:r>
          </a:p>
          <a:p>
            <a:pPr marL="1338598" lvl="2" indent="-446199" algn="just">
              <a:lnSpc>
                <a:spcPts val="4340"/>
              </a:lnSpc>
              <a:buAutoNum type="alphaLcPeriod"/>
            </a:pPr>
            <a:r>
              <a:rPr lang="en-US" sz="31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Final annotated image with bounding boxes </a:t>
            </a:r>
          </a:p>
          <a:p>
            <a:pPr marL="1338598" lvl="2" indent="-446199" algn="just">
              <a:lnSpc>
                <a:spcPts val="4340"/>
              </a:lnSpc>
              <a:buAutoNum type="alphaLcPeriod"/>
            </a:pPr>
            <a:r>
              <a:rPr lang="en-US" sz="31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The download option of the annotated image  to download.</a:t>
            </a:r>
          </a:p>
        </p:txBody>
      </p:sp>
      <p:sp>
        <p:nvSpPr>
          <p:cNvPr id="4" name="Freeform 4"/>
          <p:cNvSpPr/>
          <p:nvPr/>
        </p:nvSpPr>
        <p:spPr>
          <a:xfrm>
            <a:off x="13764167" y="5827621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4"/>
                </a:lnTo>
                <a:lnTo>
                  <a:pt x="0" y="24777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6" name="Group 6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6</a:t>
              </a:r>
            </a:p>
          </p:txBody>
        </p:sp>
      </p:grpSp>
      <p:sp>
        <p:nvSpPr>
          <p:cNvPr id="10" name="Freeform 10"/>
          <p:cNvSpPr/>
          <p:nvPr/>
        </p:nvSpPr>
        <p:spPr>
          <a:xfrm>
            <a:off x="-2628900" y="-1449083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-276225"/>
            <a:ext cx="16230600" cy="1353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40"/>
              </a:lnSpc>
            </a:pPr>
            <a:r>
              <a:rPr lang="en-US" sz="71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MODEL TRAINING</a:t>
            </a:r>
          </a:p>
        </p:txBody>
      </p:sp>
      <p:sp>
        <p:nvSpPr>
          <p:cNvPr id="3" name="Freeform 3"/>
          <p:cNvSpPr/>
          <p:nvPr/>
        </p:nvSpPr>
        <p:spPr>
          <a:xfrm>
            <a:off x="13417488" y="6142174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5" name="Group 5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7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839777" y="943604"/>
            <a:ext cx="16235311" cy="96481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Model Used:</a:t>
            </a:r>
          </a:p>
          <a:p>
            <a:pPr marL="734051" lvl="1" indent="-367026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EfficientNet-B4 from PyTorch (torchvision.models) with ImageNet pretrained weights.</a:t>
            </a:r>
          </a:p>
          <a:p>
            <a:pPr marL="734051" lvl="1" indent="-367026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Modified the classifier layer for number of PCB defect classes.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Dataset &amp; Preprocessing:</a:t>
            </a:r>
          </a:p>
          <a:p>
            <a:pPr marL="734051" lvl="1" indent="-367026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Input: 128×128 cropped defect ROIs.</a:t>
            </a:r>
          </a:p>
          <a:p>
            <a:pPr marL="734051" lvl="1" indent="-367026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Data augmentation for training</a:t>
            </a:r>
          </a:p>
          <a:p>
            <a:pPr marL="734051" lvl="1" indent="-367026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Normalization applied to all images.</a:t>
            </a:r>
          </a:p>
          <a:p>
            <a:pPr marL="734051" lvl="1" indent="-367026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Train-validation split: 80%-20% (stratified by defect class).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Training Details:</a:t>
            </a:r>
          </a:p>
          <a:p>
            <a:pPr marL="734051" lvl="1" indent="-367026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Optimizer: AdamW</a:t>
            </a:r>
          </a:p>
          <a:p>
            <a:pPr marL="734051" lvl="1" indent="-367026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Loss Function: Cross-Entropy with label smoothing</a:t>
            </a:r>
          </a:p>
          <a:p>
            <a:pPr marL="734051" lvl="1" indent="-367026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Scheduler: Cosine Annealing LR</a:t>
            </a:r>
          </a:p>
          <a:p>
            <a:pPr marL="734051" lvl="1" indent="-367026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Mixed Precision Training: autocast + GradScaler for speed &amp; GPU efficiency</a:t>
            </a:r>
          </a:p>
          <a:p>
            <a:pPr marL="734051" lvl="1" indent="-367026" algn="l">
              <a:lnSpc>
                <a:spcPts val="4759"/>
              </a:lnSpc>
              <a:spcBef>
                <a:spcPct val="0"/>
              </a:spcBef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Early stopping: Patience = 5 epochs (to avoid overfitting)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3" name="Group 3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8</a:t>
              </a:r>
            </a:p>
          </p:txBody>
        </p:sp>
      </p:grpSp>
      <p:sp>
        <p:nvSpPr>
          <p:cNvPr id="7" name="Freeform 7"/>
          <p:cNvSpPr/>
          <p:nvPr/>
        </p:nvSpPr>
        <p:spPr>
          <a:xfrm>
            <a:off x="14982801" y="6379649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634953" y="904875"/>
            <a:ext cx="16241674" cy="93369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92"/>
              </a:lnSpc>
            </a:pPr>
            <a:r>
              <a:rPr lang="en-US" sz="328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Training Loop: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Epochs: 50 max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For each batch: forward pass → loss → backward → optimizer step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Weighted sampling to handle class imbalance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Validation accuracy computed each epoch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Best model checkpoint saved automatically</a:t>
            </a:r>
          </a:p>
          <a:p>
            <a:pPr algn="l">
              <a:lnSpc>
                <a:spcPts val="4592"/>
              </a:lnSpc>
            </a:pPr>
            <a:r>
              <a:rPr lang="en-US" sz="328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Testing / Prediction: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Load trained checkpoint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Single ROI image tested using preprocessing transform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Model outputs top-3 predictions with probabilities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Final output: image displayed with predicted label + confidence</a:t>
            </a:r>
          </a:p>
          <a:p>
            <a:pPr algn="l">
              <a:lnSpc>
                <a:spcPts val="4592"/>
              </a:lnSpc>
            </a:pPr>
            <a:r>
              <a:rPr lang="en-US" sz="328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Results: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Achieved ≥95% accuracy on validation/test data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Stable training with low loss</a:t>
            </a:r>
          </a:p>
          <a:p>
            <a:pPr marL="708239" lvl="1" indent="-354119" algn="l">
              <a:lnSpc>
                <a:spcPts val="4592"/>
              </a:lnSpc>
              <a:buFont typeface="Arial"/>
              <a:buChar char="•"/>
            </a:pPr>
            <a:r>
              <a:rPr lang="en-US" sz="32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Output visuals: Accuracy/loss curves &amp; confusion matrix</a:t>
            </a:r>
          </a:p>
          <a:p>
            <a:pPr algn="l">
              <a:lnSpc>
                <a:spcPts val="4592"/>
              </a:lnSpc>
            </a:pPr>
            <a:endParaRPr/>
          </a:p>
        </p:txBody>
      </p:sp>
      <p:sp>
        <p:nvSpPr>
          <p:cNvPr id="9" name="Freeform 9"/>
          <p:cNvSpPr/>
          <p:nvPr/>
        </p:nvSpPr>
        <p:spPr>
          <a:xfrm>
            <a:off x="-5838859" y="0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27442" y="-38728"/>
            <a:ext cx="14131713" cy="20935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80"/>
              </a:lnSpc>
            </a:pPr>
            <a:r>
              <a:rPr lang="en-US" sz="57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FRONTEND &amp; BACKEND INTEGRATION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17968" y="2213620"/>
            <a:ext cx="17418457" cy="7278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92"/>
              </a:lnSpc>
            </a:pPr>
            <a:r>
              <a:rPr lang="en-US" sz="370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Frontend (User Interface):</a:t>
            </a:r>
          </a:p>
          <a:p>
            <a:pPr marL="800824" lvl="1" indent="-400412" algn="l">
              <a:lnSpc>
                <a:spcPts val="5192"/>
              </a:lnSpc>
              <a:buFont typeface="Arial"/>
              <a:buChar char="•"/>
            </a:pPr>
            <a:r>
              <a:rPr lang="en-US" sz="37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Built using Streamlit, a Python framework for creating interactive web apps easily.</a:t>
            </a:r>
          </a:p>
          <a:p>
            <a:pPr marL="800824" lvl="1" indent="-400412" algn="l">
              <a:lnSpc>
                <a:spcPts val="5192"/>
              </a:lnSpc>
              <a:buFont typeface="Arial"/>
              <a:buChar char="•"/>
            </a:pPr>
            <a:r>
              <a:rPr lang="en-US" sz="37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Users can upload template and test PCB images directly in the browser.</a:t>
            </a:r>
          </a:p>
          <a:p>
            <a:pPr marL="800824" lvl="1" indent="-400412" algn="l">
              <a:lnSpc>
                <a:spcPts val="5192"/>
              </a:lnSpc>
              <a:buFont typeface="Arial"/>
              <a:buChar char="•"/>
            </a:pPr>
            <a:r>
              <a:rPr lang="en-US" sz="37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The app displays annotated PCB images with:</a:t>
            </a:r>
          </a:p>
          <a:p>
            <a:pPr marL="1601649" lvl="2" indent="-533883" algn="l">
              <a:lnSpc>
                <a:spcPts val="5192"/>
              </a:lnSpc>
              <a:buFont typeface="Arial"/>
              <a:buChar char="⚬"/>
            </a:pPr>
            <a:r>
              <a:rPr lang="en-US" sz="37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Detected defect contours</a:t>
            </a:r>
          </a:p>
          <a:p>
            <a:pPr marL="1601649" lvl="2" indent="-533883" algn="l">
              <a:lnSpc>
                <a:spcPts val="5192"/>
              </a:lnSpc>
              <a:buFont typeface="Arial"/>
              <a:buChar char="⚬"/>
            </a:pPr>
            <a:r>
              <a:rPr lang="en-US" sz="37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Labels for each defect</a:t>
            </a:r>
          </a:p>
          <a:p>
            <a:pPr marL="800824" lvl="1" indent="-400412" algn="l">
              <a:lnSpc>
                <a:spcPts val="5192"/>
              </a:lnSpc>
              <a:buFont typeface="Arial"/>
              <a:buChar char="•"/>
            </a:pPr>
            <a:r>
              <a:rPr lang="en-US" sz="37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Download option: Users can save annotated images and a CSV log of defect predictions.</a:t>
            </a:r>
          </a:p>
          <a:p>
            <a:pPr marL="800824" lvl="1" indent="-400412" algn="l">
              <a:lnSpc>
                <a:spcPts val="5192"/>
              </a:lnSpc>
              <a:buFont typeface="Arial"/>
              <a:buChar char="•"/>
            </a:pPr>
            <a:r>
              <a:rPr lang="en-US" sz="3709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Designed to be user-friendly for non-technical users, requiring no setup or coding knowledge.</a:t>
            </a:r>
          </a:p>
          <a:p>
            <a:pPr algn="l">
              <a:lnSpc>
                <a:spcPts val="5192"/>
              </a:lnSpc>
            </a:pPr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5" name="Group 5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9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-3231232" y="-121288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721225" y="8788169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4"/>
                </a:lnTo>
                <a:lnTo>
                  <a:pt x="0" y="24777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885825"/>
            <a:ext cx="16115800" cy="92500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80"/>
              </a:lnSpc>
            </a:pPr>
            <a:r>
              <a:rPr lang="en-US" sz="37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Backend (Processing &amp; Model Inference):</a:t>
            </a:r>
          </a:p>
          <a:p>
            <a:pPr marL="798836" lvl="1" indent="-399418" algn="l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Written in Python, modularized for image preprocessing and CNN inference.</a:t>
            </a:r>
          </a:p>
          <a:p>
            <a:pPr marL="798836" lvl="1" indent="-399418" algn="l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Workflow:</a:t>
            </a:r>
          </a:p>
          <a:p>
            <a:pPr marL="1597672" lvl="2" indent="-532557" algn="l">
              <a:lnSpc>
                <a:spcPts val="5180"/>
              </a:lnSpc>
              <a:buAutoNum type="alphaLcPeriod"/>
            </a:pPr>
            <a:r>
              <a:rPr lang="en-US" sz="37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Receive uploaded images from frontend</a:t>
            </a:r>
          </a:p>
          <a:p>
            <a:pPr marL="1597672" lvl="2" indent="-532557" algn="l">
              <a:lnSpc>
                <a:spcPts val="5180"/>
              </a:lnSpc>
              <a:buAutoNum type="alphaLcPeriod"/>
            </a:pPr>
            <a:r>
              <a:rPr lang="en-US" sz="37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Apply image subtraction, ROI extraction, contour detection</a:t>
            </a:r>
          </a:p>
          <a:p>
            <a:pPr marL="1597672" lvl="2" indent="-532557" algn="l">
              <a:lnSpc>
                <a:spcPts val="5180"/>
              </a:lnSpc>
              <a:buAutoNum type="alphaLcPeriod"/>
            </a:pPr>
            <a:r>
              <a:rPr lang="en-US" sz="37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Feed defect ROIs to EfficientNet-B4 model for classification</a:t>
            </a:r>
          </a:p>
          <a:p>
            <a:pPr marL="1597672" lvl="2" indent="-532557" algn="l">
              <a:lnSpc>
                <a:spcPts val="5180"/>
              </a:lnSpc>
              <a:buAutoNum type="alphaLcPeriod"/>
            </a:pPr>
            <a:r>
              <a:rPr lang="en-US" sz="37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Return annotated PCB images and prediction logs to frontend</a:t>
            </a:r>
          </a:p>
          <a:p>
            <a:pPr marL="798836" lvl="1" indent="-399418" algn="l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Optimized for real-time response (&lt;5 seconds per image).</a:t>
            </a:r>
          </a:p>
          <a:p>
            <a:pPr algn="l">
              <a:lnSpc>
                <a:spcPts val="5180"/>
              </a:lnSpc>
            </a:pPr>
            <a:r>
              <a:rPr lang="en-US" sz="37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Visuals / Features:</a:t>
            </a:r>
          </a:p>
          <a:p>
            <a:pPr marL="798836" lvl="1" indent="-399418" algn="l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Screenshot of Streamlit UI with upload buttons, annotated results, and download links.</a:t>
            </a:r>
          </a:p>
          <a:p>
            <a:pPr marL="798836" lvl="1" indent="-399418" algn="l">
              <a:lnSpc>
                <a:spcPts val="5180"/>
              </a:lnSpc>
              <a:buFont typeface="Arial"/>
              <a:buChar char="•"/>
            </a:pPr>
            <a:r>
              <a:rPr lang="en-US" sz="37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Optional: Display side-by-side comparison (original vs annotated PCB).</a:t>
            </a:r>
          </a:p>
          <a:p>
            <a:pPr algn="l">
              <a:lnSpc>
                <a:spcPts val="5180"/>
              </a:lnSpc>
            </a:pPr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4" name="Group 4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10</a:t>
              </a:r>
            </a:p>
          </p:txBody>
        </p:sp>
      </p:grpSp>
      <p:sp>
        <p:nvSpPr>
          <p:cNvPr id="8" name="Freeform 8"/>
          <p:cNvSpPr/>
          <p:nvPr/>
        </p:nvSpPr>
        <p:spPr>
          <a:xfrm>
            <a:off x="1263762" y="-1458608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1804788" y="9258300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36560" y="1679438"/>
            <a:ext cx="16230600" cy="8846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58"/>
              </a:lnSpc>
            </a:pPr>
            <a:r>
              <a:rPr lang="en-US" sz="3827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Defect Detection:</a:t>
            </a:r>
          </a:p>
          <a:p>
            <a:pPr marL="826324" lvl="1" indent="-413162" algn="l">
              <a:lnSpc>
                <a:spcPts val="5358"/>
              </a:lnSpc>
              <a:buFont typeface="Arial"/>
              <a:buChar char="•"/>
            </a:pPr>
            <a:r>
              <a:rPr lang="en-US" sz="3827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Detected defects accurately using bounding boxes.</a:t>
            </a:r>
          </a:p>
          <a:p>
            <a:pPr marL="826324" lvl="1" indent="-413162" algn="l">
              <a:lnSpc>
                <a:spcPts val="5358"/>
              </a:lnSpc>
              <a:buFont typeface="Arial"/>
              <a:buChar char="•"/>
            </a:pPr>
            <a:r>
              <a:rPr lang="en-US" sz="3827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Contours highlight the defective regions clearly.</a:t>
            </a:r>
          </a:p>
          <a:p>
            <a:pPr algn="l">
              <a:lnSpc>
                <a:spcPts val="5358"/>
              </a:lnSpc>
            </a:pPr>
            <a:r>
              <a:rPr lang="en-US" sz="3827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Classification:</a:t>
            </a:r>
          </a:p>
          <a:p>
            <a:pPr marL="826324" lvl="1" indent="-413162" algn="l">
              <a:lnSpc>
                <a:spcPts val="5358"/>
              </a:lnSpc>
              <a:buFont typeface="Arial"/>
              <a:buChar char="•"/>
            </a:pPr>
            <a:r>
              <a:rPr lang="en-US" sz="3827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Achieved ≥95% accuracy on test data.</a:t>
            </a:r>
          </a:p>
          <a:p>
            <a:pPr marL="826324" lvl="1" indent="-413162" algn="l">
              <a:lnSpc>
                <a:spcPts val="5358"/>
              </a:lnSpc>
              <a:buFont typeface="Arial"/>
              <a:buChar char="•"/>
            </a:pPr>
            <a:r>
              <a:rPr lang="en-US" sz="3827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Very low false positives and false negatives.</a:t>
            </a:r>
          </a:p>
          <a:p>
            <a:pPr algn="l">
              <a:lnSpc>
                <a:spcPts val="5358"/>
              </a:lnSpc>
            </a:pPr>
            <a:r>
              <a:rPr lang="en-US" sz="3827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Performance:</a:t>
            </a:r>
          </a:p>
          <a:p>
            <a:pPr marL="826324" lvl="1" indent="-413162" algn="l">
              <a:lnSpc>
                <a:spcPts val="5358"/>
              </a:lnSpc>
              <a:buFont typeface="Arial"/>
              <a:buChar char="•"/>
            </a:pPr>
            <a:r>
              <a:rPr lang="en-US" sz="3827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Upload-to-output time: &lt;7 seconds per image, suitable for real-time inspection.</a:t>
            </a:r>
          </a:p>
          <a:p>
            <a:pPr algn="l">
              <a:lnSpc>
                <a:spcPts val="5358"/>
              </a:lnSpc>
            </a:pPr>
            <a:r>
              <a:rPr lang="en-US" sz="3827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Outputs:</a:t>
            </a:r>
          </a:p>
          <a:p>
            <a:pPr marL="826324" lvl="1" indent="-413162" algn="l">
              <a:lnSpc>
                <a:spcPts val="5358"/>
              </a:lnSpc>
              <a:buFont typeface="Arial"/>
              <a:buChar char="•"/>
            </a:pPr>
            <a:r>
              <a:rPr lang="en-US" sz="3827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Annotated PCBs showing defect locations and labels.</a:t>
            </a:r>
          </a:p>
          <a:p>
            <a:pPr marL="826324" lvl="1" indent="-413162" algn="l">
              <a:lnSpc>
                <a:spcPts val="5358"/>
              </a:lnSpc>
              <a:buFont typeface="Arial"/>
              <a:buChar char="•"/>
            </a:pPr>
            <a:r>
              <a:rPr lang="en-US" sz="3827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Can provide multiple views: full PCB and cropped defect ROIs.</a:t>
            </a:r>
          </a:p>
          <a:p>
            <a:pPr algn="l">
              <a:lnSpc>
                <a:spcPts val="5358"/>
              </a:lnSpc>
            </a:pPr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4" name="Group 4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11</a:t>
              </a:r>
            </a:p>
          </p:txBody>
        </p:sp>
      </p:grpSp>
      <p:sp>
        <p:nvSpPr>
          <p:cNvPr id="8" name="Freeform 8"/>
          <p:cNvSpPr/>
          <p:nvPr/>
        </p:nvSpPr>
        <p:spPr>
          <a:xfrm>
            <a:off x="-3252481" y="-645946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4"/>
                </a:lnTo>
                <a:lnTo>
                  <a:pt x="0" y="24777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982801" y="5143500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758062" y="47941"/>
            <a:ext cx="9700891" cy="1310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9"/>
              </a:lnSpc>
              <a:spcBef>
                <a:spcPct val="0"/>
              </a:spcBef>
            </a:pPr>
            <a:r>
              <a:rPr lang="en-US" sz="6899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Results &amp; Evaluation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859155" y="0"/>
            <a:ext cx="1562612" cy="1673225"/>
            <a:chOff x="0" y="0"/>
            <a:chExt cx="2083482" cy="2230967"/>
          </a:xfrm>
        </p:grpSpPr>
        <p:grpSp>
          <p:nvGrpSpPr>
            <p:cNvPr id="3" name="Group 3"/>
            <p:cNvGrpSpPr/>
            <p:nvPr/>
          </p:nvGrpSpPr>
          <p:grpSpPr>
            <a:xfrm>
              <a:off x="75599" y="0"/>
              <a:ext cx="1932284" cy="2230967"/>
              <a:chOff x="0" y="0"/>
              <a:chExt cx="703982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70398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03982" h="812800">
                    <a:moveTo>
                      <a:pt x="234787" y="793731"/>
                    </a:moveTo>
                    <a:cubicBezTo>
                      <a:pt x="270879" y="805245"/>
                      <a:pt x="311910" y="812800"/>
                      <a:pt x="352180" y="812800"/>
                    </a:cubicBezTo>
                    <a:cubicBezTo>
                      <a:pt x="392452" y="812800"/>
                      <a:pt x="431204" y="806323"/>
                      <a:pt x="466915" y="794809"/>
                    </a:cubicBezTo>
                    <a:cubicBezTo>
                      <a:pt x="467675" y="794450"/>
                      <a:pt x="468435" y="794450"/>
                      <a:pt x="469194" y="794090"/>
                    </a:cubicBezTo>
                    <a:cubicBezTo>
                      <a:pt x="603304" y="748035"/>
                      <a:pt x="702082" y="626421"/>
                      <a:pt x="703982" y="484298"/>
                    </a:cubicBezTo>
                    <a:lnTo>
                      <a:pt x="703982" y="0"/>
                    </a:lnTo>
                    <a:lnTo>
                      <a:pt x="0" y="0"/>
                    </a:lnTo>
                    <a:lnTo>
                      <a:pt x="0" y="483939"/>
                    </a:lnTo>
                    <a:cubicBezTo>
                      <a:pt x="1900" y="627140"/>
                      <a:pt x="99158" y="748755"/>
                      <a:pt x="234787" y="793731"/>
                    </a:cubicBez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47625"/>
                <a:ext cx="703982" cy="7334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0" y="437582"/>
              <a:ext cx="2083482" cy="12415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805"/>
                </a:lnSpc>
              </a:pPr>
              <a:r>
                <a:rPr lang="en-US" sz="5575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12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305875" y="-3123"/>
            <a:ext cx="10929913" cy="22193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CONCLUSION &amp; FUTURE WORK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72137" y="2227039"/>
            <a:ext cx="16049630" cy="7821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368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Conclusion:</a:t>
            </a:r>
          </a:p>
          <a:p>
            <a:pPr marL="794597" lvl="1" indent="-397298" algn="l">
              <a:lnSpc>
                <a:spcPts val="5152"/>
              </a:lnSpc>
              <a:buFont typeface="Arial"/>
              <a:buChar char="•"/>
            </a:pPr>
            <a:r>
              <a:rPr lang="en-US" sz="36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Successfully built an automated PCB defect detection &amp; classification system.</a:t>
            </a:r>
          </a:p>
          <a:p>
            <a:pPr marL="794597" lvl="1" indent="-397298" algn="l">
              <a:lnSpc>
                <a:spcPts val="5152"/>
              </a:lnSpc>
              <a:buFont typeface="Arial"/>
              <a:buChar char="•"/>
            </a:pPr>
            <a:r>
              <a:rPr lang="en-US" sz="36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Used image subtraction + ROI/contour extraction + EfficientNet CNN for robust results.</a:t>
            </a:r>
          </a:p>
          <a:p>
            <a:pPr marL="794597" lvl="1" indent="-397298" algn="l">
              <a:lnSpc>
                <a:spcPts val="5152"/>
              </a:lnSpc>
              <a:buFont typeface="Arial"/>
              <a:buChar char="•"/>
            </a:pPr>
            <a:r>
              <a:rPr lang="en-US" sz="36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Developed a fully functional frontend and backend web app with download capability.</a:t>
            </a:r>
          </a:p>
          <a:p>
            <a:pPr algn="l">
              <a:lnSpc>
                <a:spcPts val="5152"/>
              </a:lnSpc>
            </a:pPr>
            <a:r>
              <a:rPr lang="en-US" sz="3680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Future Work:</a:t>
            </a:r>
          </a:p>
          <a:p>
            <a:pPr marL="794597" lvl="1" indent="-397298" algn="l">
              <a:lnSpc>
                <a:spcPts val="5152"/>
              </a:lnSpc>
              <a:buFont typeface="Arial"/>
              <a:buChar char="•"/>
            </a:pPr>
            <a:r>
              <a:rPr lang="en-US" sz="36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Expand dataset and defect categories for broader applicability.</a:t>
            </a:r>
          </a:p>
          <a:p>
            <a:pPr marL="794597" lvl="1" indent="-397298" algn="l">
              <a:lnSpc>
                <a:spcPts val="5152"/>
              </a:lnSpc>
              <a:buFont typeface="Arial"/>
              <a:buChar char="•"/>
            </a:pPr>
            <a:r>
              <a:rPr lang="en-US" sz="36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Deploy as a cloud-based inspection tool for remote access.</a:t>
            </a:r>
          </a:p>
          <a:p>
            <a:pPr marL="794597" lvl="1" indent="-397298" algn="l">
              <a:lnSpc>
                <a:spcPts val="5152"/>
              </a:lnSpc>
              <a:buFont typeface="Arial"/>
              <a:buChar char="•"/>
            </a:pPr>
            <a:r>
              <a:rPr lang="en-US" sz="368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Optimize for real-time integration in manufacturing lines.</a:t>
            </a:r>
          </a:p>
          <a:p>
            <a:pPr algn="l">
              <a:lnSpc>
                <a:spcPts val="5152"/>
              </a:lnSpc>
            </a:pPr>
            <a:endParaRPr/>
          </a:p>
        </p:txBody>
      </p:sp>
      <p:sp>
        <p:nvSpPr>
          <p:cNvPr id="9" name="Freeform 9"/>
          <p:cNvSpPr/>
          <p:nvPr/>
        </p:nvSpPr>
        <p:spPr>
          <a:xfrm>
            <a:off x="-3009325" y="-402279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cording 2025-10-07 153308.mp4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numSld="999">
                <p:cTn id="7" fill="hold" display="0">
                  <p:stCondLst>
                    <p:cond delay="indefinite"/>
                  </p:stCondLst>
                  <p:endCondLst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554977" y="3462285"/>
            <a:ext cx="11627497" cy="5412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73"/>
              </a:lnSpc>
            </a:pPr>
            <a:r>
              <a:rPr lang="en-US" sz="14695" b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THANK YOU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-31071" y="0"/>
            <a:ext cx="4239083" cy="10287000"/>
            <a:chOff x="0" y="0"/>
            <a:chExt cx="5652111" cy="13716000"/>
          </a:xfrm>
        </p:grpSpPr>
        <p:grpSp>
          <p:nvGrpSpPr>
            <p:cNvPr id="4" name="Group 4"/>
            <p:cNvGrpSpPr/>
            <p:nvPr/>
          </p:nvGrpSpPr>
          <p:grpSpPr>
            <a:xfrm>
              <a:off x="2826056" y="0"/>
              <a:ext cx="2826056" cy="13716000"/>
              <a:chOff x="0" y="0"/>
              <a:chExt cx="558233" cy="2709333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558233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558233" h="2709333">
                    <a:moveTo>
                      <a:pt x="0" y="0"/>
                    </a:moveTo>
                    <a:lnTo>
                      <a:pt x="558233" y="0"/>
                    </a:lnTo>
                    <a:lnTo>
                      <a:pt x="558233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solidFill>
                <a:srgbClr val="E9E0D9"/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47625"/>
                <a:ext cx="558233" cy="275695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1413028" y="0"/>
              <a:ext cx="2826056" cy="13716000"/>
              <a:chOff x="0" y="0"/>
              <a:chExt cx="558233" cy="2709333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558233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558233" h="2709333">
                    <a:moveTo>
                      <a:pt x="0" y="0"/>
                    </a:moveTo>
                    <a:lnTo>
                      <a:pt x="558233" y="0"/>
                    </a:lnTo>
                    <a:lnTo>
                      <a:pt x="558233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solidFill>
                <a:srgbClr val="9FC3D0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558233" cy="275695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0" y="0"/>
              <a:ext cx="2826056" cy="13716000"/>
              <a:chOff x="0" y="0"/>
              <a:chExt cx="558233" cy="2709333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558233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558233" h="2709333">
                    <a:moveTo>
                      <a:pt x="0" y="0"/>
                    </a:moveTo>
                    <a:lnTo>
                      <a:pt x="558233" y="0"/>
                    </a:lnTo>
                    <a:lnTo>
                      <a:pt x="558233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solidFill>
                <a:srgbClr val="E9C7C6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0" y="-47625"/>
                <a:ext cx="558233" cy="275695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Freeform 13"/>
          <p:cNvSpPr/>
          <p:nvPr/>
        </p:nvSpPr>
        <p:spPr>
          <a:xfrm>
            <a:off x="12412831" y="8026211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3"/>
                </a:lnTo>
                <a:lnTo>
                  <a:pt x="0" y="24777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413653" y="-573693"/>
            <a:ext cx="7315200" cy="2477783"/>
          </a:xfrm>
          <a:custGeom>
            <a:avLst/>
            <a:gdLst/>
            <a:ahLst/>
            <a:cxnLst/>
            <a:rect l="l" t="t" r="r" b="b"/>
            <a:pathLst>
              <a:path w="7315200" h="2477783">
                <a:moveTo>
                  <a:pt x="0" y="0"/>
                </a:moveTo>
                <a:lnTo>
                  <a:pt x="7315200" y="0"/>
                </a:lnTo>
                <a:lnTo>
                  <a:pt x="7315200" y="2477784"/>
                </a:lnTo>
                <a:lnTo>
                  <a:pt x="0" y="24777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1069</Words>
  <Application>Microsoft Office PowerPoint</Application>
  <PresentationFormat>Custom</PresentationFormat>
  <Paragraphs>150</Paragraphs>
  <Slides>16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Times New Roman MT</vt:lpstr>
      <vt:lpstr>Times New Roman MT Bold</vt:lpstr>
      <vt:lpstr>Open Sans Bold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Thesis defense</dc:title>
  <cp:lastModifiedBy>Dell</cp:lastModifiedBy>
  <cp:revision>3</cp:revision>
  <dcterms:created xsi:type="dcterms:W3CDTF">2006-08-16T00:00:00Z</dcterms:created>
  <dcterms:modified xsi:type="dcterms:W3CDTF">2025-10-07T10:34:43Z</dcterms:modified>
  <dc:identifier>DAG00d9wH0k</dc:identifier>
</cp:coreProperties>
</file>