
<file path=[Content_Types].xml><?xml version="1.0" encoding="utf-8"?>
<Types xmlns="http://schemas.openxmlformats.org/package/2006/content-types">
  <Default Extension="xml" ContentType="application/vnd.openxmlformats-package.core-properties+xml"/>
  <Default Extension="jpeg" ContentType="image/jpeg"/>
  <Default Extension="wdp" ContentType="image/vnd.ms-photo"/>
  <Default Extension="png" ContentType="image/png"/>
  <Default Extension="mp4" ContentType="video/mp4"/>
  <Default Extension="rels" ContentType="application/vnd.openxmlformats-package.relationships+xml"/>
  <Override PartName="/ppt/presentation.xml" ContentType="application/vnd.openxmlformats-officedocument.presentationml.presentation.main+xml"/>
  <Override PartName="/ppt/slides/slide7.xml" ContentType="application/vnd.openxmlformats-officedocument.presentationml.slide+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slideLayouts/slideLayout1.xml" ContentType="application/vnd.openxmlformats-officedocument.presentationml.slideLayout+xml"/>
  <Override PartName="/ppt/tableStyles.xml" ContentType="application/vnd.openxmlformats-officedocument.presentationml.tableStyles+xml"/>
  <Override PartName="/ppt/slides/slide2.xml" ContentType="application/vnd.openxmlformats-officedocument.presentationml.slide+xml"/>
  <Override PartName="/ppt/slides/slide6.xml" ContentType="application/vnd.openxmlformats-officedocument.presentationml.slide+xml"/>
  <Override PartName="/ppt/slides/slide1.xml" ContentType="application/vnd.openxmlformats-officedocument.presentationml.slide+xml"/>
  <Override PartName="/ppt/slides/slide5.xml" ContentType="application/vnd.openxmlformats-officedocument.presentationml.slide+xml"/>
  <Override PartName="/ppt/viewProps.xml" ContentType="application/vnd.openxmlformats-officedocument.presentationml.viewProps+xml"/>
  <Override PartName="/ppt/slides/slide4.xml" ContentType="application/vnd.openxmlformats-officedocument.presentationml.slide+xml"/>
  <Override PartName="/ppt/presProps.xml" ContentType="application/vnd.openxmlformats-officedocument.presentationml.presProps+xml"/>
  <Override PartName="/ppt/slides/slide3.xml" ContentType="application/vnd.openxmlformats-officedocument.presentationml.slide+xml"/>
  <Override PartName="/ppt/slides/slide8.xml" ContentType="application/vnd.openxmlformats-officedocument.presentationml.slide+xml"/>
  <Override PartName="/docProps/app.xml" ContentType="application/vnd.openxmlformats-officedocument.extended-properties+xml"/>
</Types>
</file>

<file path=_rels/.rels>&#65279;<?xml version="1.0" encoding="utf-8"?><Relationships xmlns="http://schemas.openxmlformats.org/package/2006/relationships"><Relationship Type="http://schemas.openxmlformats.org/package/2006/relationships/metadata/core-properties" Target="/docProps/core.xml" Id="rId3" /><Relationship Type="http://schemas.openxmlformats.org/package/2006/relationships/metadata/thumbnail" Target="/docProps/thumbnail.jpeg" Id="rId2" /><Relationship Type="http://schemas.openxmlformats.org/officeDocument/2006/relationships/officeDocument" Target="/ppt/presentation.xml" Id="rId1" /><Relationship Type="http://schemas.openxmlformats.org/officeDocument/2006/relationships/extended-properties" Target="/docProps/app.xml" Id="rId4" /></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57" r:id="rId3"/>
    <p:sldId id="258" r:id="rId4"/>
    <p:sldId id="263" r:id="rId5"/>
    <p:sldId id="259" r:id="rId6"/>
    <p:sldId id="260" r:id="rId7"/>
    <p:sldId id="261" r:id="rId8"/>
    <p:sldId id="262"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4" autoAdjust="0"/>
    <p:restoredTop sz="94660"/>
  </p:normalViewPr>
  <p:slideViewPr>
    <p:cSldViewPr snapToGrid="0">
      <p:cViewPr varScale="1">
        <p:scale>
          <a:sx n="82" d="100"/>
          <a:sy n="82" d="100"/>
        </p:scale>
        <p:origin x="720" y="58"/>
      </p:cViewPr>
      <p:guideLst/>
    </p:cSldViewPr>
  </p:slideViewPr>
  <p:notesTextViewPr>
    <p:cViewPr>
      <p:scale>
        <a:sx n="1" d="1"/>
        <a:sy n="1" d="1"/>
      </p:scale>
      <p:origin x="0" y="0"/>
    </p:cViewPr>
  </p:notesTextViewPr>
  <p:gridSpacing cx="72008" cy="72008"/>
</p:viewPr>
</file>

<file path=ppt/_rels/presentation.xml.rels>&#65279;<?xml version="1.0" encoding="utf-8"?><Relationships xmlns="http://schemas.openxmlformats.org/package/2006/relationships"><Relationship Type="http://schemas.openxmlformats.org/officeDocument/2006/relationships/slide" Target="/ppt/slides/slide7.xml" Id="rId8" /><Relationship Type="http://schemas.openxmlformats.org/officeDocument/2006/relationships/tableStyles" Target="/ppt/tableStyles.xml" Id="rId13" /><Relationship Type="http://schemas.openxmlformats.org/officeDocument/2006/relationships/slide" Target="/ppt/slides/slide2.xml" Id="rId3" /><Relationship Type="http://schemas.openxmlformats.org/officeDocument/2006/relationships/slide" Target="/ppt/slides/slide6.xml" Id="rId7" /><Relationship Type="http://schemas.openxmlformats.org/officeDocument/2006/relationships/theme" Target="/ppt/theme/theme1.xml" Id="rId12" /><Relationship Type="http://schemas.openxmlformats.org/officeDocument/2006/relationships/slide" Target="/ppt/slides/slide1.xml" Id="rId2" /><Relationship Type="http://schemas.openxmlformats.org/officeDocument/2006/relationships/slideMaster" Target="/ppt/slideMasters/slideMaster1.xml" Id="rId1" /><Relationship Type="http://schemas.openxmlformats.org/officeDocument/2006/relationships/slide" Target="/ppt/slides/slide5.xml" Id="rId6" /><Relationship Type="http://schemas.openxmlformats.org/officeDocument/2006/relationships/viewProps" Target="/ppt/viewProps.xml" Id="rId11" /><Relationship Type="http://schemas.openxmlformats.org/officeDocument/2006/relationships/slide" Target="/ppt/slides/slide4.xml" Id="rId5" /><Relationship Type="http://schemas.openxmlformats.org/officeDocument/2006/relationships/presProps" Target="/ppt/presProps.xml" Id="rId10" /><Relationship Type="http://schemas.openxmlformats.org/officeDocument/2006/relationships/slide" Target="/ppt/slides/slide3.xml" Id="rId4" /><Relationship Type="http://schemas.openxmlformats.org/officeDocument/2006/relationships/slide" Target="/ppt/slides/slide8.xml" Id="rId9" /></Relationships>
</file>

<file path=ppt/slideLayouts/_rels/slideLayout1.xml.rels>&#65279;<?xml version="1.0" encoding="utf-8"?><Relationships xmlns="http://schemas.openxmlformats.org/package/2006/relationships"><Relationship Type="http://schemas.microsoft.com/office/2007/relationships/hdphoto" Target="/ppt/media/hdphoto2.wdp" Id="rId3" /><Relationship Type="http://schemas.openxmlformats.org/officeDocument/2006/relationships/image" Target="/ppt/media/image4.png" Id="rId2" /><Relationship Type="http://schemas.openxmlformats.org/officeDocument/2006/relationships/slideMaster" Target="/ppt/slideMasters/slideMaster1.xml" Id="rId1" /><Relationship Type="http://schemas.microsoft.com/office/2007/relationships/hdphoto" Target="/ppt/media/hdphoto1.wdp" Id="rId5" /><Relationship Type="http://schemas.openxmlformats.org/officeDocument/2006/relationships/image" Target="/ppt/media/image3.png" Id="rId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0D06666-CEA0-4018-9143-E5E8B41B974B}" type="datetimeFigureOut">
              <a:rPr lang="en-IN" smtClean="0"/>
              <a:t>07-10-2025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E6CA3434-6611-48E2-9C3C-D776DC072A27}" type="slidenum">
              <a:rPr lang="en-IN" smtClean="0"/>
              <a:t>‹#›</a:t>
            </a:fld>
            <a:endParaRPr lang="en-IN"/>
          </a:p>
        </p:txBody>
      </p:sp>
    </p:spTree>
    <p:extLst>
      <p:ext uri="{BB962C8B-B14F-4D97-AF65-F5344CB8AC3E}">
        <p14:creationId xmlns:p14="http://schemas.microsoft.com/office/powerpoint/2010/main" val="30330241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0D06666-CEA0-4018-9143-E5E8B41B974B}" type="datetimeFigureOut">
              <a:rPr lang="en-IN" smtClean="0"/>
              <a:t>07-10-2025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6CA3434-6611-48E2-9C3C-D776DC072A27}" type="slidenum">
              <a:rPr lang="en-IN" smtClean="0"/>
              <a:t>‹#›</a:t>
            </a:fld>
            <a:endParaRPr lang="en-IN"/>
          </a:p>
        </p:txBody>
      </p:sp>
    </p:spTree>
    <p:extLst>
      <p:ext uri="{BB962C8B-B14F-4D97-AF65-F5344CB8AC3E}">
        <p14:creationId xmlns:p14="http://schemas.microsoft.com/office/powerpoint/2010/main" val="3596081543"/>
      </p:ext>
    </p:extLst>
  </p:cSld>
  <p:clrMapOvr>
    <a:masterClrMapping/>
  </p:clrMapOvr>
</p:sldLayout>
</file>

<file path=ppt/slideMasters/_rels/slideMaster1.xml.rels>&#65279;<?xml version="1.0" encoding="utf-8"?><Relationships xmlns="http://schemas.openxmlformats.org/package/2006/relationships"><Relationship Type="http://schemas.openxmlformats.org/officeDocument/2006/relationships/image" Target="/ppt/media/image2.png" Id="rId13" /><Relationship Type="http://schemas.openxmlformats.org/officeDocument/2006/relationships/theme" Target="/ppt/theme/theme1.xml" Id="rId12" /><Relationship Type="http://schemas.openxmlformats.org/officeDocument/2006/relationships/slideLayout" Target="/ppt/slideLayouts/slideLayout2.xml" Id="rId2" /><Relationship Type="http://schemas.openxmlformats.org/officeDocument/2006/relationships/slideLayout" Target="/ppt/slideLayouts/slideLayout1.xml" Id="rId1" /><Relationship Type="http://schemas.openxmlformats.org/officeDocument/2006/relationships/image" Target="/ppt/media/image3.png" Id="rId15" /><Relationship Type="http://schemas.microsoft.com/office/2007/relationships/hdphoto" Target="/ppt/media/hdphoto1.wdp" Id="rId14" /></Relationships>
</file>

<file path=ppt/slideMasters/slideMaster1.xml><?xml version="1.0" encoding="utf-8"?>
<p:sldMaster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C0D06666-CEA0-4018-9143-E5E8B41B974B}" type="datetimeFigureOut">
              <a:rPr lang="en-IN" smtClean="0"/>
              <a:t>07-10-2025</a:t>
            </a:fld>
            <a:endParaRPr lang="en-IN"/>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IN"/>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E6CA3434-6611-48E2-9C3C-D776DC072A27}" type="slidenum">
              <a:rPr lang="en-IN" smtClean="0"/>
              <a:t>‹#›</a:t>
            </a:fld>
            <a:endParaRPr lang="en-IN"/>
          </a:p>
        </p:txBody>
      </p:sp>
    </p:spTree>
    <p:extLst>
      <p:ext uri="{BB962C8B-B14F-4D97-AF65-F5344CB8AC3E}">
        <p14:creationId xmlns:p14="http://schemas.microsoft.com/office/powerpoint/2010/main" val="735774510"/>
      </p:ext>
    </p:extLst>
  </p:cSld>
  <p:clrMap bg1="lt1" tx1="dk1" bg2="lt2" tx2="dk2" accent1="accent1" accent2="accent2" accent3="accent3" accent4="accent4" accent5="accent5" accent6="accent6" hlink="hlink" folHlink="folHlink"/>
  <p:sldLayoutIdLst>
    <p:sldLayoutId id="2147483685" r:id="rId1"/>
    <p:sldLayoutId id="2147483686" r:id="rId2"/>
  </p:sldLayoutIdLst>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1.xml" Id="rId1"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4.xml.rels>&#65279;<?xml version="1.0" encoding="utf-8"?><Relationships xmlns="http://schemas.openxmlformats.org/package/2006/relationships"><Relationship Type="http://schemas.openxmlformats.org/officeDocument/2006/relationships/image" Target="/ppt/media/image5.png" Id="rId2" /><Relationship Type="http://schemas.openxmlformats.org/officeDocument/2006/relationships/slideLayout" Target="/ppt/slideLayouts/slideLayout2.xml" Id="rId1"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Id3" /><Relationship Type="http://schemas.openxmlformats.org/officeDocument/2006/relationships/image" Target="/ppt/media/image6.png" Id="rId4" /><Relationship Type="http://schemas.openxmlformats.org/officeDocument/2006/relationships/video" Target="/ppt/media/media1.mp4" Id="rId2" /><Relationship Type="http://schemas.microsoft.com/office/2007/relationships/media" Target="/ppt/media/media1.mp4" Id="rId1"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Id1"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A07043-0B4C-0A3D-27C9-309F1A333797}"/>
              </a:ext>
            </a:extLst>
          </p:cNvPr>
          <p:cNvSpPr>
            <a:spLocks noGrp="1"/>
          </p:cNvSpPr>
          <p:nvPr>
            <p:ph type="ctrTitle"/>
          </p:nvPr>
        </p:nvSpPr>
        <p:spPr/>
        <p:txBody>
          <a:bodyPr>
            <a:normAutofit fontScale="90000"/>
          </a:bodyPr>
          <a:lstStyle/>
          <a:p>
            <a:r>
              <a:rPr lang="en-US" dirty="0" err="1"/>
              <a:t>CircuitGuard</a:t>
            </a:r>
            <a:r>
              <a:rPr lang="en-US" dirty="0"/>
              <a:t>: PCB Defect Detection and Classification</a:t>
            </a:r>
            <a:endParaRPr lang="en-IN" dirty="0"/>
          </a:p>
        </p:txBody>
      </p:sp>
      <p:sp>
        <p:nvSpPr>
          <p:cNvPr id="3" name="Subtitle 2">
            <a:extLst>
              <a:ext uri="{FF2B5EF4-FFF2-40B4-BE49-F238E27FC236}">
                <a16:creationId xmlns:a16="http://schemas.microsoft.com/office/drawing/2014/main" id="{36A51412-00F6-D35E-9C32-41AB3B810A85}"/>
              </a:ext>
            </a:extLst>
          </p:cNvPr>
          <p:cNvSpPr>
            <a:spLocks noGrp="1"/>
          </p:cNvSpPr>
          <p:nvPr>
            <p:ph type="subTitle" idx="1"/>
          </p:nvPr>
        </p:nvSpPr>
        <p:spPr/>
        <p:txBody>
          <a:bodyPr>
            <a:normAutofit fontScale="92500" lnSpcReduction="20000"/>
          </a:bodyPr>
          <a:lstStyle/>
          <a:p>
            <a:r>
              <a:rPr lang="en-IN" dirty="0"/>
              <a:t>Developed by: </a:t>
            </a:r>
            <a:r>
              <a:rPr lang="en-IN" i="1" dirty="0"/>
              <a:t>Karan Panchal</a:t>
            </a:r>
          </a:p>
          <a:p>
            <a:r>
              <a:rPr lang="en-US" dirty="0"/>
              <a:t>Guided by: Pranaya Ma’am</a:t>
            </a:r>
          </a:p>
          <a:p>
            <a:r>
              <a:rPr lang="en-IN" dirty="0"/>
              <a:t>Infosys Project</a:t>
            </a:r>
          </a:p>
        </p:txBody>
      </p:sp>
    </p:spTree>
    <p:extLst>
      <p:ext uri="{BB962C8B-B14F-4D97-AF65-F5344CB8AC3E}">
        <p14:creationId xmlns:p14="http://schemas.microsoft.com/office/powerpoint/2010/main" val="40563836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C5498-1FAB-22C0-4931-8B9FF31D062E}"/>
              </a:ext>
            </a:extLst>
          </p:cNvPr>
          <p:cNvSpPr>
            <a:spLocks noGrp="1"/>
          </p:cNvSpPr>
          <p:nvPr>
            <p:ph type="title"/>
          </p:nvPr>
        </p:nvSpPr>
        <p:spPr/>
        <p:txBody>
          <a:bodyPr/>
          <a:lstStyle/>
          <a:p>
            <a:r>
              <a:rPr lang="en-IN" dirty="0"/>
              <a:t>Problem Statement</a:t>
            </a:r>
          </a:p>
        </p:txBody>
      </p:sp>
      <p:sp>
        <p:nvSpPr>
          <p:cNvPr id="3" name="Content Placeholder 2">
            <a:extLst>
              <a:ext uri="{FF2B5EF4-FFF2-40B4-BE49-F238E27FC236}">
                <a16:creationId xmlns:a16="http://schemas.microsoft.com/office/drawing/2014/main" id="{70A2FBF6-F7C2-BCBF-B595-AF339693CC79}"/>
              </a:ext>
            </a:extLst>
          </p:cNvPr>
          <p:cNvSpPr>
            <a:spLocks noGrp="1"/>
          </p:cNvSpPr>
          <p:nvPr>
            <p:ph idx="1"/>
          </p:nvPr>
        </p:nvSpPr>
        <p:spPr/>
        <p:txBody>
          <a:bodyPr>
            <a:normAutofit/>
          </a:bodyPr>
          <a:lstStyle/>
          <a:p>
            <a:pPr marL="0" indent="0">
              <a:buNone/>
            </a:pPr>
            <a:r>
              <a:rPr lang="en-US" sz="2000" dirty="0"/>
              <a:t>In large-scale manufacturing environments managing production workflows, monitoring performance, and ensuring process efficiency pose significant challenges. Manual tracking of PCB data, component usage, and defect analysis often leads to inefficiencies, data inconsistencies, and delays in decision-making. The lack of an integrated system for real-time monitoring and automated analysis results in reduced productivity and increased operational costs. To address these issues, the </a:t>
            </a:r>
            <a:r>
              <a:rPr lang="en-US" sz="2000" b="1" dirty="0"/>
              <a:t>Infosys PCB Project</a:t>
            </a:r>
            <a:r>
              <a:rPr lang="en-US" sz="2000" dirty="0"/>
              <a:t> aims to develop a streamlined, automated solution that enhances process visibility, improves data accuracy, and supports faster, data-driven decisions in PCB manufacturing and management.</a:t>
            </a:r>
            <a:endParaRPr lang="en-IN" sz="2000" dirty="0"/>
          </a:p>
        </p:txBody>
      </p:sp>
    </p:spTree>
    <p:extLst>
      <p:ext uri="{BB962C8B-B14F-4D97-AF65-F5344CB8AC3E}">
        <p14:creationId xmlns:p14="http://schemas.microsoft.com/office/powerpoint/2010/main" val="32416139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D166F3-4D95-9CB3-EA5F-B86243E966F5}"/>
              </a:ext>
            </a:extLst>
          </p:cNvPr>
          <p:cNvSpPr>
            <a:spLocks noGrp="1"/>
          </p:cNvSpPr>
          <p:nvPr>
            <p:ph type="title"/>
          </p:nvPr>
        </p:nvSpPr>
        <p:spPr/>
        <p:txBody>
          <a:bodyPr/>
          <a:lstStyle/>
          <a:p>
            <a:r>
              <a:rPr lang="en-IN" dirty="0"/>
              <a:t>Objective</a:t>
            </a:r>
          </a:p>
        </p:txBody>
      </p:sp>
      <p:sp>
        <p:nvSpPr>
          <p:cNvPr id="3" name="Content Placeholder 2">
            <a:extLst>
              <a:ext uri="{FF2B5EF4-FFF2-40B4-BE49-F238E27FC236}">
                <a16:creationId xmlns:a16="http://schemas.microsoft.com/office/drawing/2014/main" id="{966C7024-02CD-A627-4DDE-AC4DE8CC63ED}"/>
              </a:ext>
            </a:extLst>
          </p:cNvPr>
          <p:cNvSpPr>
            <a:spLocks noGrp="1"/>
          </p:cNvSpPr>
          <p:nvPr>
            <p:ph idx="1"/>
          </p:nvPr>
        </p:nvSpPr>
        <p:spPr/>
        <p:txBody>
          <a:bodyPr>
            <a:normAutofit/>
          </a:bodyPr>
          <a:lstStyle/>
          <a:p>
            <a:r>
              <a:rPr lang="en-US" sz="2000" dirty="0"/>
              <a:t>Develop a </a:t>
            </a:r>
            <a:r>
              <a:rPr lang="en-US" sz="2000" b="1" dirty="0"/>
              <a:t>fully automated defect detection</a:t>
            </a:r>
            <a:r>
              <a:rPr lang="en-US" sz="2000" dirty="0"/>
              <a:t> and </a:t>
            </a:r>
            <a:r>
              <a:rPr lang="en-US" sz="2000" b="1" dirty="0"/>
              <a:t>classification system</a:t>
            </a:r>
            <a:r>
              <a:rPr lang="en-US" sz="2000" dirty="0"/>
              <a:t>.</a:t>
            </a:r>
          </a:p>
          <a:p>
            <a:r>
              <a:rPr lang="en-US" sz="2000" dirty="0"/>
              <a:t>Use </a:t>
            </a:r>
            <a:r>
              <a:rPr lang="en-US" sz="2000" b="1" dirty="0"/>
              <a:t>image subtraction, contour extraction</a:t>
            </a:r>
            <a:r>
              <a:rPr lang="en-US" sz="2000" dirty="0"/>
              <a:t>, and </a:t>
            </a:r>
            <a:r>
              <a:rPr lang="en-US" sz="2000" b="1" dirty="0"/>
              <a:t>CNN-based classification</a:t>
            </a:r>
            <a:r>
              <a:rPr lang="en-US" sz="2000" dirty="0"/>
              <a:t>.</a:t>
            </a:r>
          </a:p>
          <a:p>
            <a:r>
              <a:rPr lang="en-US" sz="2000" dirty="0"/>
              <a:t>Provide a </a:t>
            </a:r>
            <a:r>
              <a:rPr lang="en-US" sz="2000" b="1" dirty="0"/>
              <a:t>web interface</a:t>
            </a:r>
            <a:r>
              <a:rPr lang="en-US" sz="2000" dirty="0"/>
              <a:t> for users to upload PCB images and get results with labeled defects.</a:t>
            </a:r>
          </a:p>
          <a:p>
            <a:r>
              <a:rPr lang="en-US" sz="2000" dirty="0"/>
              <a:t>Export annotated results for reporting or analysis.</a:t>
            </a:r>
          </a:p>
          <a:p>
            <a:pPr marL="0" indent="0">
              <a:buNone/>
            </a:pPr>
            <a:endParaRPr lang="en-IN" sz="2000" dirty="0"/>
          </a:p>
        </p:txBody>
      </p:sp>
    </p:spTree>
    <p:extLst>
      <p:ext uri="{BB962C8B-B14F-4D97-AF65-F5344CB8AC3E}">
        <p14:creationId xmlns:p14="http://schemas.microsoft.com/office/powerpoint/2010/main" val="36548549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040FA-0DB5-6A2E-D8F0-E6AB4B96F327}"/>
              </a:ext>
            </a:extLst>
          </p:cNvPr>
          <p:cNvSpPr>
            <a:spLocks noGrp="1"/>
          </p:cNvSpPr>
          <p:nvPr>
            <p:ph type="title"/>
          </p:nvPr>
        </p:nvSpPr>
        <p:spPr/>
        <p:txBody>
          <a:bodyPr/>
          <a:lstStyle/>
          <a:p>
            <a:r>
              <a:rPr lang="en-US" dirty="0"/>
              <a:t>Flow Diagram</a:t>
            </a:r>
            <a:endParaRPr lang="en-IN" dirty="0"/>
          </a:p>
        </p:txBody>
      </p:sp>
      <p:pic>
        <p:nvPicPr>
          <p:cNvPr id="4" name="Content Placeholder 3">
            <a:extLst>
              <a:ext uri="{FF2B5EF4-FFF2-40B4-BE49-F238E27FC236}">
                <a16:creationId xmlns:a16="http://schemas.microsoft.com/office/drawing/2014/main" id="{91842EEB-B8F2-7A63-5EB7-1EEA8FB3930D}"/>
              </a:ext>
            </a:extLst>
          </p:cNvPr>
          <p:cNvPicPr>
            <a:picLocks noGrp="1" noChangeAspect="1"/>
          </p:cNvPicPr>
          <p:nvPr>
            <p:ph idx="1"/>
          </p:nvPr>
        </p:nvPicPr>
        <p:blipFill>
          <a:blip r:embed="rId2"/>
          <a:stretch>
            <a:fillRect/>
          </a:stretch>
        </p:blipFill>
        <p:spPr>
          <a:xfrm>
            <a:off x="4189446" y="1656744"/>
            <a:ext cx="3788228" cy="4716624"/>
          </a:xfrm>
          <a:prstGeom prst="rect">
            <a:avLst/>
          </a:prstGeom>
        </p:spPr>
      </p:pic>
    </p:spTree>
    <p:extLst>
      <p:ext uri="{BB962C8B-B14F-4D97-AF65-F5344CB8AC3E}">
        <p14:creationId xmlns:p14="http://schemas.microsoft.com/office/powerpoint/2010/main" val="247950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56F732-3C9D-6038-7EE1-738B0BF7A658}"/>
              </a:ext>
            </a:extLst>
          </p:cNvPr>
          <p:cNvSpPr>
            <a:spLocks noGrp="1"/>
          </p:cNvSpPr>
          <p:nvPr>
            <p:ph type="title"/>
          </p:nvPr>
        </p:nvSpPr>
        <p:spPr>
          <a:xfrm>
            <a:off x="838200" y="223375"/>
            <a:ext cx="10058400" cy="1609344"/>
          </a:xfrm>
        </p:spPr>
        <p:txBody>
          <a:bodyPr/>
          <a:lstStyle/>
          <a:p>
            <a:r>
              <a:rPr lang="en-IN" dirty="0"/>
              <a:t>Project Modules (Overview)</a:t>
            </a:r>
          </a:p>
        </p:txBody>
      </p:sp>
      <p:sp>
        <p:nvSpPr>
          <p:cNvPr id="3" name="Content Placeholder 2">
            <a:extLst>
              <a:ext uri="{FF2B5EF4-FFF2-40B4-BE49-F238E27FC236}">
                <a16:creationId xmlns:a16="http://schemas.microsoft.com/office/drawing/2014/main" id="{57685929-4CA2-DA02-60B6-4D0867A22942}"/>
              </a:ext>
            </a:extLst>
          </p:cNvPr>
          <p:cNvSpPr>
            <a:spLocks noGrp="1"/>
          </p:cNvSpPr>
          <p:nvPr>
            <p:ph idx="1"/>
          </p:nvPr>
        </p:nvSpPr>
        <p:spPr>
          <a:xfrm>
            <a:off x="838200" y="1832719"/>
            <a:ext cx="10515600" cy="4948399"/>
          </a:xfrm>
        </p:spPr>
        <p:txBody>
          <a:bodyPr>
            <a:normAutofit fontScale="92500" lnSpcReduction="10000"/>
          </a:bodyPr>
          <a:lstStyle/>
          <a:p>
            <a:pPr marL="0" indent="0" algn="just">
              <a:buNone/>
            </a:pPr>
            <a:r>
              <a:rPr lang="en-IN" sz="1800" b="1" dirty="0"/>
              <a:t>Module 1: Image Subtraction</a:t>
            </a:r>
          </a:p>
          <a:p>
            <a:pPr algn="just"/>
            <a:r>
              <a:rPr lang="en-US" sz="1800" dirty="0"/>
              <a:t>Compare defected PCB images with reference (clean) images using grayscale conversion.</a:t>
            </a:r>
          </a:p>
          <a:p>
            <a:pPr algn="just"/>
            <a:r>
              <a:rPr lang="en-US" sz="1800" dirty="0"/>
              <a:t>Apply absolute difference (cv2.absdiff) and thresholding to highlight defect regions.</a:t>
            </a:r>
          </a:p>
          <a:p>
            <a:pPr algn="just"/>
            <a:r>
              <a:rPr lang="en-US" sz="1800" dirty="0"/>
              <a:t>Save binary output images showing clearly detected defects for further processing.</a:t>
            </a:r>
            <a:endParaRPr lang="en-IN" sz="1800" dirty="0"/>
          </a:p>
          <a:p>
            <a:pPr marL="0" indent="0" algn="just">
              <a:buNone/>
            </a:pPr>
            <a:r>
              <a:rPr lang="en-IN" sz="1800" b="1" dirty="0"/>
              <a:t>Module 2:ROI &amp; Contour Extraction</a:t>
            </a:r>
          </a:p>
          <a:p>
            <a:pPr algn="just"/>
            <a:r>
              <a:rPr lang="en-US" sz="1800" dirty="0"/>
              <a:t>Detect defect regions from binary masks using OpenCV contours.</a:t>
            </a:r>
          </a:p>
          <a:p>
            <a:pPr algn="just"/>
            <a:r>
              <a:rPr lang="en-US" sz="1800" dirty="0"/>
              <a:t>Crop bounding boxes around defects to create Regions of Interest (ROIs).</a:t>
            </a:r>
          </a:p>
          <a:p>
            <a:pPr algn="just"/>
            <a:r>
              <a:rPr lang="en-US" sz="1800" dirty="0"/>
              <a:t>Save ROIs in class-wise folders for model training and classification.</a:t>
            </a:r>
            <a:r>
              <a:rPr lang="en-IN" sz="1800" dirty="0"/>
              <a:t> </a:t>
            </a:r>
            <a:endParaRPr lang="en-US" sz="1800" dirty="0"/>
          </a:p>
          <a:p>
            <a:pPr marL="0" indent="0" algn="just">
              <a:buNone/>
            </a:pPr>
            <a:r>
              <a:rPr lang="en-IN" sz="1800" b="1" dirty="0"/>
              <a:t>Module 3:Model Training &amp; Fine-Tuning</a:t>
            </a:r>
          </a:p>
          <a:p>
            <a:pPr algn="just"/>
            <a:r>
              <a:rPr lang="en-US" sz="1800" dirty="0"/>
              <a:t>Train EfficientNet-B4 on extracted ROIs with data augmentation and class balancing for accurate defect classification.</a:t>
            </a:r>
          </a:p>
          <a:p>
            <a:pPr algn="just"/>
            <a:r>
              <a:rPr lang="en-US" sz="1800" dirty="0"/>
              <a:t>Validate model on unseen ROIs and save the best-performing model checkpoint.</a:t>
            </a:r>
          </a:p>
          <a:p>
            <a:pPr algn="just"/>
            <a:r>
              <a:rPr lang="en-US" sz="1800" dirty="0"/>
              <a:t>Use the trained model to predict defect classes on new ROIs, showing top predictions with confidence scores.</a:t>
            </a:r>
            <a:endParaRPr lang="en-IN" sz="1800" dirty="0"/>
          </a:p>
        </p:txBody>
      </p:sp>
    </p:spTree>
    <p:extLst>
      <p:ext uri="{BB962C8B-B14F-4D97-AF65-F5344CB8AC3E}">
        <p14:creationId xmlns:p14="http://schemas.microsoft.com/office/powerpoint/2010/main" val="34453109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F1169-7A48-BD69-24FE-C53E96931B5B}"/>
              </a:ext>
            </a:extLst>
          </p:cNvPr>
          <p:cNvSpPr>
            <a:spLocks noGrp="1"/>
          </p:cNvSpPr>
          <p:nvPr>
            <p:ph type="title"/>
          </p:nvPr>
        </p:nvSpPr>
        <p:spPr>
          <a:xfrm>
            <a:off x="838200" y="279359"/>
            <a:ext cx="10058400" cy="1609344"/>
          </a:xfrm>
        </p:spPr>
        <p:txBody>
          <a:bodyPr/>
          <a:lstStyle/>
          <a:p>
            <a:r>
              <a:rPr lang="en-IN" dirty="0"/>
              <a:t>Project Modules (Overview)</a:t>
            </a:r>
          </a:p>
        </p:txBody>
      </p:sp>
      <p:sp>
        <p:nvSpPr>
          <p:cNvPr id="3" name="Content Placeholder 2">
            <a:extLst>
              <a:ext uri="{FF2B5EF4-FFF2-40B4-BE49-F238E27FC236}">
                <a16:creationId xmlns:a16="http://schemas.microsoft.com/office/drawing/2014/main" id="{95D2F998-6220-B976-BB3F-FE6432C8AC0C}"/>
              </a:ext>
            </a:extLst>
          </p:cNvPr>
          <p:cNvSpPr>
            <a:spLocks noGrp="1"/>
          </p:cNvSpPr>
          <p:nvPr>
            <p:ph idx="1"/>
          </p:nvPr>
        </p:nvSpPr>
        <p:spPr>
          <a:xfrm>
            <a:off x="838200" y="1816295"/>
            <a:ext cx="10515600" cy="4667250"/>
          </a:xfrm>
        </p:spPr>
        <p:txBody>
          <a:bodyPr>
            <a:noAutofit/>
          </a:bodyPr>
          <a:lstStyle/>
          <a:p>
            <a:pPr marL="0" indent="0" algn="just">
              <a:buNone/>
            </a:pPr>
            <a:r>
              <a:rPr lang="en-IN" sz="1800" b="1" dirty="0"/>
              <a:t>Module 4:Backend Pipeline &amp; ROI Prediction</a:t>
            </a:r>
          </a:p>
          <a:p>
            <a:pPr algn="just"/>
            <a:r>
              <a:rPr lang="en-US" sz="1800" dirty="0"/>
              <a:t>Complete pipeline integrates image subtraction, ROI extraction, and defect classification for single or batch PCB images.</a:t>
            </a:r>
          </a:p>
          <a:p>
            <a:pPr algn="just"/>
            <a:r>
              <a:rPr lang="en-US" sz="1800" dirty="0"/>
              <a:t>ROIs are extracted from cleaned masks, saved class-wise, and fed into the trained EfficientNet-B4 model for prediction.</a:t>
            </a:r>
          </a:p>
          <a:p>
            <a:pPr algn="just"/>
            <a:r>
              <a:rPr lang="en-US" sz="1800" dirty="0"/>
              <a:t>Displays top predictions with confidence and supports visualization and debugging of annotated defect outputs.</a:t>
            </a:r>
            <a:endParaRPr lang="en-IN" sz="1800" dirty="0"/>
          </a:p>
          <a:p>
            <a:pPr marL="0" indent="0" algn="just">
              <a:buNone/>
            </a:pPr>
            <a:r>
              <a:rPr lang="en-IN" sz="1800" b="1" dirty="0"/>
              <a:t>Module 5:Frontend Integration</a:t>
            </a:r>
          </a:p>
          <a:p>
            <a:r>
              <a:rPr lang="en-US" sz="1800" dirty="0"/>
              <a:t>Streamlit-based UI allows users to upload defected PCB images and automatically matches with the correct reference PCB using SSIM.</a:t>
            </a:r>
          </a:p>
          <a:p>
            <a:r>
              <a:rPr lang="en-US" sz="1800" dirty="0"/>
              <a:t>Performs image subtraction, ROI extraction, and classification, displaying annotated PCBs with detected defects and confidence scores.</a:t>
            </a:r>
          </a:p>
          <a:p>
            <a:r>
              <a:rPr lang="en-US" sz="1800" dirty="0"/>
              <a:t>Supports visualization and download of annotated images for further analysis or reporting.</a:t>
            </a:r>
            <a:endParaRPr lang="en-IN" sz="1800" dirty="0"/>
          </a:p>
        </p:txBody>
      </p:sp>
    </p:spTree>
    <p:extLst>
      <p:ext uri="{BB962C8B-B14F-4D97-AF65-F5344CB8AC3E}">
        <p14:creationId xmlns:p14="http://schemas.microsoft.com/office/powerpoint/2010/main" val="22952209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C9EA8-1E5D-C554-DEEB-A4035CEC172D}"/>
              </a:ext>
            </a:extLst>
          </p:cNvPr>
          <p:cNvSpPr>
            <a:spLocks noGrp="1"/>
          </p:cNvSpPr>
          <p:nvPr>
            <p:ph type="title"/>
          </p:nvPr>
        </p:nvSpPr>
        <p:spPr/>
        <p:txBody>
          <a:bodyPr/>
          <a:lstStyle/>
          <a:p>
            <a:r>
              <a:rPr lang="en-US" dirty="0"/>
              <a:t>Demo</a:t>
            </a:r>
            <a:endParaRPr lang="en-IN" dirty="0"/>
          </a:p>
        </p:txBody>
      </p:sp>
      <p:pic>
        <p:nvPicPr>
          <p:cNvPr id="4" name="Streamlit - Google Chrome 2025-10-06 22-24-29">
            <a:hlinkClick r:id="" action="ppaction://media"/>
            <a:extLst>
              <a:ext uri="{FF2B5EF4-FFF2-40B4-BE49-F238E27FC236}">
                <a16:creationId xmlns:a16="http://schemas.microsoft.com/office/drawing/2014/main" id="{9AC89FA9-69EE-8204-0EB1-976044D61605}"/>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4"/>
          <a:stretch>
            <a:fillRect/>
          </a:stretch>
        </p:blipFill>
        <p:spPr>
          <a:xfrm>
            <a:off x="2330450" y="2120900"/>
            <a:ext cx="7537450" cy="4051300"/>
          </a:xfrm>
        </p:spPr>
      </p:pic>
    </p:spTree>
    <p:extLst>
      <p:ext uri="{BB962C8B-B14F-4D97-AF65-F5344CB8AC3E}">
        <p14:creationId xmlns:p14="http://schemas.microsoft.com/office/powerpoint/2010/main" val="641664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69759"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A9F9EE-7B64-0F4F-B327-AB18DC15D977}"/>
              </a:ext>
            </a:extLst>
          </p:cNvPr>
          <p:cNvSpPr>
            <a:spLocks noGrp="1"/>
          </p:cNvSpPr>
          <p:nvPr>
            <p:ph type="title"/>
          </p:nvPr>
        </p:nvSpPr>
        <p:spPr/>
        <p:txBody>
          <a:bodyPr/>
          <a:lstStyle/>
          <a:p>
            <a:r>
              <a:rPr lang="en-US" dirty="0"/>
              <a:t>Conclusion</a:t>
            </a:r>
            <a:endParaRPr lang="en-IN" dirty="0"/>
          </a:p>
        </p:txBody>
      </p:sp>
      <p:sp>
        <p:nvSpPr>
          <p:cNvPr id="3" name="Content Placeholder 2">
            <a:extLst>
              <a:ext uri="{FF2B5EF4-FFF2-40B4-BE49-F238E27FC236}">
                <a16:creationId xmlns:a16="http://schemas.microsoft.com/office/drawing/2014/main" id="{784914F3-42A2-4749-06D0-E21A1AC4806C}"/>
              </a:ext>
            </a:extLst>
          </p:cNvPr>
          <p:cNvSpPr>
            <a:spLocks noGrp="1"/>
          </p:cNvSpPr>
          <p:nvPr>
            <p:ph idx="1"/>
          </p:nvPr>
        </p:nvSpPr>
        <p:spPr/>
        <p:txBody>
          <a:bodyPr>
            <a:normAutofit/>
          </a:bodyPr>
          <a:lstStyle/>
          <a:p>
            <a:pPr marL="0" indent="0">
              <a:buNone/>
            </a:pPr>
            <a:r>
              <a:rPr lang="en-US" sz="2000" dirty="0"/>
              <a:t>The PCB defect detection system effectively automates the inspection of printed circuit boards by comparing defected images with reference PCBs. Using image subtraction, ROI extraction, and deep learning (EfficientNet-B4), it accurately identifies and classifies defects. The integration with Streamlit provides a user-friendly interface for uploading PCBs, visualizing annotated defects, and downloading results. This pipeline reduces manual inspection time, improves consistency, and allows scalable defect analysis. Overall, it demonstrates a robust combination of computer vision and AI for industrial quality control.</a:t>
            </a:r>
            <a:endParaRPr lang="en-IN" sz="2000" dirty="0"/>
          </a:p>
        </p:txBody>
      </p:sp>
    </p:spTree>
    <p:extLst>
      <p:ext uri="{BB962C8B-B14F-4D97-AF65-F5344CB8AC3E}">
        <p14:creationId xmlns:p14="http://schemas.microsoft.com/office/powerpoint/2010/main" val="850264558"/>
      </p:ext>
    </p:extLst>
  </p:cSld>
  <p:clrMapOvr>
    <a:masterClrMapping/>
  </p:clrMapOvr>
</p:sld>
</file>

<file path=ppt/theme/_rels/theme1.xml.rels>&#65279;<?xml version="1.0" encoding="utf-8"?><Relationships xmlns="http://schemas.openxmlformats.org/package/2006/relationships"><Relationship Type="http://schemas.openxmlformats.org/officeDocument/2006/relationships/image" Target="/ppt/media/image1.jpeg" Id="rId1" /></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docProps/app.xml><?xml version="1.0" encoding="utf-8"?>
<Properties xmlns="http://schemas.openxmlformats.org/officeDocument/2006/extended-properties" xmlns:vt="http://schemas.openxmlformats.org/officeDocument/2006/docPropsVTypes">
  <Template>Wood Type</Template>
  <TotalTime>137</TotalTime>
  <Words>540</Words>
  <Application>Microsoft Office PowerPoint</Application>
  <PresentationFormat>Widescreen</PresentationFormat>
  <Paragraphs>37</Paragraphs>
  <Slides>8</Slides>
  <Notes>0</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Rockwell</vt:lpstr>
      <vt:lpstr>Rockwell Condensed</vt:lpstr>
      <vt:lpstr>Wingdings</vt:lpstr>
      <vt:lpstr>Wood Type</vt:lpstr>
      <vt:lpstr>CircuitGuard: PCB Defect Detection and Classification</vt:lpstr>
      <vt:lpstr>Problem Statement</vt:lpstr>
      <vt:lpstr>Objective</vt:lpstr>
      <vt:lpstr>Flow Diagram</vt:lpstr>
      <vt:lpstr>Project Modules (Overview)</vt:lpstr>
      <vt:lpstr>Project Modules (Overview)</vt:lpstr>
      <vt:lpstr>Demo</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Gautam Panchal</dc:creator>
  <cp:lastModifiedBy>Gautam Panchal</cp:lastModifiedBy>
  <cp:revision>2</cp:revision>
  <dcterms:created xsi:type="dcterms:W3CDTF">2025-10-06T16:22:22Z</dcterms:created>
  <dcterms:modified xsi:type="dcterms:W3CDTF">2025-10-07T15:02:31Z</dcterms:modified>
</cp:coreProperties>
</file>