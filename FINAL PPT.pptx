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0" r:id="rId13"/>
    <p:sldId id="271" r:id="rId14"/>
    <p:sldId id="273" r:id="rId15"/>
  </p:sldIdLst>
  <p:sldSz cx="18288000" cy="10287000"/>
  <p:notesSz cx="6858000" cy="9144000"/>
  <p:embeddedFontLst>
    <p:embeddedFont>
      <p:font typeface="Open Sans Bold" panose="020B0604020202020204" charset="0"/>
      <p:regular r:id="rId16"/>
    </p:embeddedFont>
    <p:embeddedFont>
      <p:font typeface="Times New Roman MT" panose="020B0604020202020204" charset="0"/>
      <p:regular r:id="rId17"/>
    </p:embeddedFont>
    <p:embeddedFont>
      <p:font typeface="Times New Roman MT Bold" panose="020B0604020202020204" charset="0"/>
      <p:regular r:id="rId18"/>
    </p:embeddedFont>
    <p:embeddedFont>
      <p:font typeface="Tw Cen MT" panose="020B0602020104020603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26518" y="1951178"/>
            <a:ext cx="13034964" cy="3763820"/>
          </a:xfrm>
        </p:spPr>
        <p:txBody>
          <a:bodyPr anchor="b">
            <a:norm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6518" y="5829301"/>
            <a:ext cx="13034964" cy="2057399"/>
          </a:xfrm>
        </p:spPr>
        <p:txBody>
          <a:bodyPr>
            <a:normAutofit/>
          </a:bodyPr>
          <a:lstStyle>
            <a:lvl1pPr marL="0" indent="0" algn="ctr">
              <a:buNone/>
              <a:defRPr sz="3300">
                <a:solidFill>
                  <a:schemeClr val="bg1">
                    <a:lumMod val="50000"/>
                  </a:schemeClr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47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370661" y="3550639"/>
            <a:ext cx="15545739" cy="51361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02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61" y="1242845"/>
            <a:ext cx="15527628" cy="4105229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661" y="5486186"/>
            <a:ext cx="15527628" cy="2052275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bg1">
                    <a:lumMod val="50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923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370663" y="927776"/>
            <a:ext cx="15546677" cy="23942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370661" y="3550639"/>
            <a:ext cx="7659039" cy="51361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9258300" y="3550639"/>
            <a:ext cx="7658100" cy="51361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52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370663" y="927776"/>
            <a:ext cx="15546677" cy="23942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492" y="3556527"/>
            <a:ext cx="7310211" cy="1019991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9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1370662" y="4576519"/>
            <a:ext cx="7659041" cy="411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594635" y="3556527"/>
            <a:ext cx="7322706" cy="1019991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9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9258301" y="4576519"/>
            <a:ext cx="7658102" cy="411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47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4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55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63" y="914400"/>
            <a:ext cx="5903532" cy="3034878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7617094" y="914401"/>
            <a:ext cx="9300245" cy="77723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62" y="3949278"/>
            <a:ext cx="5903534" cy="4737522"/>
          </a:xfrm>
        </p:spPr>
        <p:txBody>
          <a:bodyPr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786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62" y="914400"/>
            <a:ext cx="8902454" cy="3034881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137205" y="914402"/>
            <a:ext cx="4883037" cy="77724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92" y="3949278"/>
            <a:ext cx="8902424" cy="4737521"/>
          </a:xfrm>
        </p:spPr>
        <p:txBody>
          <a:bodyPr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02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91" y="6434061"/>
            <a:ext cx="15546648" cy="1217415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77116" y="1047392"/>
            <a:ext cx="14733798" cy="4821204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61" y="7663092"/>
            <a:ext cx="15546678" cy="1023708"/>
          </a:xfrm>
        </p:spPr>
        <p:txBody>
          <a:bodyPr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29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61" y="914399"/>
            <a:ext cx="15546678" cy="5140868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63" y="6307232"/>
            <a:ext cx="15546678" cy="2379570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15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18" y="914400"/>
            <a:ext cx="13954128" cy="4489356"/>
          </a:xfrm>
        </p:spPr>
        <p:txBody>
          <a:bodyPr anchor="ctr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580967" y="5415048"/>
            <a:ext cx="13128449" cy="892182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61" y="6559195"/>
            <a:ext cx="15546678" cy="21315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502232" y="1131249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36337" y="44903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793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63" y="3208082"/>
            <a:ext cx="15546678" cy="376775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63" y="6993503"/>
            <a:ext cx="15546678" cy="1710966"/>
          </a:xfrm>
        </p:spPr>
        <p:txBody>
          <a:bodyPr anchor="t"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576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370661" y="914400"/>
            <a:ext cx="15546678" cy="24076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70661" y="3550640"/>
            <a:ext cx="4948464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70661" y="4415033"/>
            <a:ext cx="4948464" cy="4271768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78584" y="3550640"/>
            <a:ext cx="4937282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6662023" y="4415033"/>
            <a:ext cx="4955027" cy="4271768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959947" y="3550640"/>
            <a:ext cx="4957392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11959947" y="4415033"/>
            <a:ext cx="4957392" cy="4271768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20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370661" y="916158"/>
            <a:ext cx="15546678" cy="24058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70662" y="6307230"/>
            <a:ext cx="4944614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33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70662" y="3550640"/>
            <a:ext cx="4944614" cy="2286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70662" y="7171623"/>
            <a:ext cx="4944614" cy="1515177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4139" y="6307230"/>
            <a:ext cx="4952742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33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6662022" y="3550640"/>
            <a:ext cx="4955028" cy="2286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6662022" y="7171621"/>
            <a:ext cx="4955028" cy="1515179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959948" y="6307230"/>
            <a:ext cx="4951022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33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1959947" y="3550640"/>
            <a:ext cx="4957392" cy="2286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11959760" y="7171618"/>
            <a:ext cx="4957580" cy="151518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084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370663" y="3550640"/>
            <a:ext cx="15546678" cy="51361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14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914402"/>
            <a:ext cx="3829989" cy="77723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370663" y="914402"/>
            <a:ext cx="11488086" cy="77723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80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18288005" cy="10287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0663" y="927776"/>
            <a:ext cx="15546677" cy="23942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663" y="3550640"/>
            <a:ext cx="15546678" cy="5136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18106" y="8824913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0662" y="8824913"/>
            <a:ext cx="10009331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771017" y="8824913"/>
            <a:ext cx="1146323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656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13716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120000"/>
        </a:lnSpc>
        <a:spcBef>
          <a:spcPts val="1500"/>
        </a:spcBef>
        <a:buClr>
          <a:schemeClr val="tx1"/>
        </a:buClr>
        <a:buFont typeface="Arial" panose="020B0604020202020204" pitchFamily="34" charset="0"/>
        <a:buChar char="•"/>
        <a:defRPr sz="3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7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1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1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1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1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1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21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2719195" y="1860540"/>
            <a:ext cx="12068790" cy="393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73"/>
              </a:lnSpc>
            </a:pPr>
            <a:r>
              <a:rPr lang="en-US" sz="7601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CIRCUITGUARD – PCB DEFECT DETECTION AND CLASSIFICATION APPLICATION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646898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2687240" y="6166516"/>
            <a:ext cx="12625348" cy="829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9"/>
              </a:lnSpc>
            </a:pPr>
            <a:r>
              <a:rPr lang="en-US" sz="4835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Presented By : Mudit Khater</a:t>
            </a:r>
          </a:p>
        </p:txBody>
      </p:sp>
      <p:sp>
        <p:nvSpPr>
          <p:cNvPr id="12" name="Freeform 12"/>
          <p:cNvSpPr/>
          <p:nvPr/>
        </p:nvSpPr>
        <p:spPr>
          <a:xfrm>
            <a:off x="11118095" y="9258300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4349" y="3243812"/>
            <a:ext cx="14705320" cy="544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Printed Circuit Boards (PCBs) form the backbone of almost every electronic device  from mobiles and computers to cars, medical equipment, and industrial machines.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Even minor defects such as broken tracks, short circuits, or missing components can lead to device malfunction, safety hazards, or financial losses.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Manual inspection of PCBs is traditionally done using human operators, which is : Slow and time-consuming, Costly due to labor involvement.</a:t>
            </a:r>
          </a:p>
          <a:p>
            <a:pPr algn="l">
              <a:lnSpc>
                <a:spcPts val="475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2319629" y="1258506"/>
            <a:ext cx="13180039" cy="129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INTRODUCTION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-1902487" y="0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60387" y="752475"/>
            <a:ext cx="13180039" cy="1209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PROJECT SCENARIO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24000" y="2485442"/>
            <a:ext cx="15418475" cy="709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8" lvl="1" indent="-431799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Objective:</a:t>
            </a:r>
            <a:r>
              <a:rPr lang="en-US" sz="39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Build an automated PCB defect detection &amp; classification system.</a:t>
            </a:r>
          </a:p>
          <a:p>
            <a:pPr marL="863598" lvl="1" indent="-431799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Approach:</a:t>
            </a:r>
          </a:p>
          <a:p>
            <a:pPr marL="863598" lvl="1" indent="-431799" algn="l">
              <a:lnSpc>
                <a:spcPts val="5599"/>
              </a:lnSpc>
              <a:buAutoNum type="arabicPeriod"/>
            </a:pPr>
            <a:r>
              <a:rPr lang="en-US" sz="39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Compare test PCB with defect-free template.</a:t>
            </a:r>
          </a:p>
          <a:p>
            <a:pPr marL="863598" lvl="1" indent="-431799" algn="l">
              <a:lnSpc>
                <a:spcPts val="5599"/>
              </a:lnSpc>
              <a:buAutoNum type="arabicPeriod"/>
            </a:pPr>
            <a:r>
              <a:rPr lang="en-US" sz="39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Extract and highlight defect regions.</a:t>
            </a:r>
          </a:p>
          <a:p>
            <a:pPr marL="863598" lvl="1" indent="-431799" algn="l">
              <a:lnSpc>
                <a:spcPts val="5599"/>
              </a:lnSpc>
              <a:buAutoNum type="arabicPeriod"/>
            </a:pPr>
            <a:r>
              <a:rPr lang="en-US" sz="39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Classify defects using EfficientNet CNN.</a:t>
            </a:r>
          </a:p>
          <a:p>
            <a:pPr marL="863598" lvl="1" indent="-431799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Deliverable: A frontend web app where users upload PCB images and receive annotated outputs.</a:t>
            </a:r>
          </a:p>
          <a:p>
            <a:pPr marL="863598" lvl="1" indent="-431799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Summary: An end-to-end pipeline for PCB inspection.</a:t>
            </a:r>
          </a:p>
          <a:p>
            <a:pPr algn="l">
              <a:lnSpc>
                <a:spcPts val="5599"/>
              </a:lnSpc>
            </a:pPr>
            <a:endParaRPr dirty="0"/>
          </a:p>
        </p:txBody>
      </p:sp>
      <p:sp>
        <p:nvSpPr>
          <p:cNvPr id="9" name="Freeform 9"/>
          <p:cNvSpPr/>
          <p:nvPr/>
        </p:nvSpPr>
        <p:spPr>
          <a:xfrm>
            <a:off x="-3388814" y="328285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3601700" y="6142060"/>
            <a:ext cx="45339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553980" y="336556"/>
            <a:ext cx="13180039" cy="1336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OBJECTIVES &amp; OUTCOMES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-4366378" y="15235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390942" y="2134242"/>
            <a:ext cx="10793714" cy="7847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Objectives: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Automate the PCB defect detection process.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Accurately classify defects into predefined categories.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Develop a complete frontend + backend application for end users.</a:t>
            </a:r>
          </a:p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Outcomes: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Effective detection using image subtraction &amp; contour extraction.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 accuracy defect classification with EfficientNet CNN (≈90%).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Functional web app to upload images, view annotated outputs, and export logs.</a:t>
            </a:r>
          </a:p>
          <a:p>
            <a:pPr algn="l">
              <a:lnSpc>
                <a:spcPts val="4759"/>
              </a:lnSpc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562076"/>
            <a:ext cx="16631177" cy="876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Source: Adapted from DeepPCB benchmark dataset.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Structure: Paired images — defect-free template + defective PCB sample with annotations.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Tasks Supported:</a:t>
            </a:r>
          </a:p>
          <a:p>
            <a:pPr marL="1424940" lvl="2" indent="-474980" algn="l">
              <a:lnSpc>
                <a:spcPts val="4620"/>
              </a:lnSpc>
              <a:spcBef>
                <a:spcPct val="0"/>
              </a:spcBef>
              <a:buAutoNum type="alphaLcPeriod"/>
            </a:pPr>
            <a:r>
              <a:rPr lang="en-US" sz="33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Detect if a PCB has a defect.</a:t>
            </a:r>
          </a:p>
          <a:p>
            <a:pPr marL="1424940" lvl="2" indent="-474980" algn="l">
              <a:lnSpc>
                <a:spcPts val="4620"/>
              </a:lnSpc>
              <a:spcBef>
                <a:spcPct val="0"/>
              </a:spcBef>
              <a:buAutoNum type="alphaLcPeriod"/>
            </a:pPr>
            <a:r>
              <a:rPr lang="en-US" sz="33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Locate defects using bounding boxes.</a:t>
            </a:r>
          </a:p>
          <a:p>
            <a:pPr marL="1424940" lvl="2" indent="-474980" algn="l">
              <a:lnSpc>
                <a:spcPts val="4620"/>
              </a:lnSpc>
              <a:spcBef>
                <a:spcPct val="0"/>
              </a:spcBef>
              <a:buAutoNum type="alphaLcPeriod"/>
            </a:pPr>
            <a:r>
              <a:rPr lang="en-US" sz="33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Classify defect types using deep learning.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Defect Types (693 images total):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Missing Hole: 115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Mouse Bite: 115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Open Circuit: 116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Short Circuit: 116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Spur: 115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Spurious Copper: 116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5" name="TextBox 5"/>
          <p:cNvSpPr txBox="1"/>
          <p:nvPr/>
        </p:nvSpPr>
        <p:spPr>
          <a:xfrm>
            <a:off x="2160201" y="88263"/>
            <a:ext cx="13714550" cy="1235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  <a:spcBef>
                <a:spcPct val="0"/>
              </a:spcBef>
            </a:pPr>
            <a:r>
              <a:rPr lang="en-US" sz="64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DataSet Description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18390" y="638175"/>
            <a:ext cx="10451219" cy="1395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20"/>
              </a:lnSpc>
            </a:pPr>
            <a:r>
              <a:rPr lang="en-US" sz="73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SYSTEM WORKFLOW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68772" y="2030887"/>
            <a:ext cx="14939587" cy="7813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2"/>
              </a:lnSpc>
            </a:pPr>
            <a:r>
              <a:rPr lang="en-US" sz="400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Step-by-step process:</a:t>
            </a:r>
          </a:p>
          <a:p>
            <a:pPr marL="865593" lvl="1" indent="-432796" algn="l">
              <a:lnSpc>
                <a:spcPts val="5612"/>
              </a:lnSpc>
              <a:buAutoNum type="arabicPeriod"/>
            </a:pPr>
            <a:r>
              <a:rPr lang="en-US" sz="40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Image Subtraction → Compare template PCB with test PCB to highlight defects.</a:t>
            </a:r>
          </a:p>
          <a:p>
            <a:pPr marL="865593" lvl="1" indent="-432796" algn="l">
              <a:lnSpc>
                <a:spcPts val="5612"/>
              </a:lnSpc>
              <a:buAutoNum type="arabicPeriod"/>
            </a:pPr>
            <a:r>
              <a:rPr lang="en-US" sz="40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ROI Extraction → Focus only on the defected regions.</a:t>
            </a:r>
          </a:p>
          <a:p>
            <a:pPr marL="865593" lvl="1" indent="-432796" algn="l">
              <a:lnSpc>
                <a:spcPts val="5612"/>
              </a:lnSpc>
              <a:buAutoNum type="arabicPeriod"/>
            </a:pPr>
            <a:r>
              <a:rPr lang="en-US" sz="40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Contour Detection → Draw bounding boxes around suspected defect areas.</a:t>
            </a:r>
          </a:p>
          <a:p>
            <a:pPr marL="865593" lvl="1" indent="-432796" algn="l">
              <a:lnSpc>
                <a:spcPts val="5612"/>
              </a:lnSpc>
              <a:buAutoNum type="arabicPeriod"/>
            </a:pPr>
            <a:r>
              <a:rPr lang="en-US" sz="40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Training (EfficientNet-B4) → Train CNN model to classify defects.</a:t>
            </a:r>
          </a:p>
          <a:p>
            <a:pPr marL="865593" lvl="1" indent="-432796" algn="l">
              <a:lnSpc>
                <a:spcPts val="5612"/>
              </a:lnSpc>
              <a:buAutoNum type="arabicPeriod"/>
            </a:pPr>
            <a:r>
              <a:rPr lang="en-US" sz="40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Testing &amp; Validation → Evaluate accuracy and reliability of classification.</a:t>
            </a:r>
          </a:p>
          <a:p>
            <a:pPr algn="l">
              <a:lnSpc>
                <a:spcPts val="5612"/>
              </a:lnSpc>
            </a:pPr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15859155" y="-98041"/>
            <a:ext cx="1562612" cy="1509824"/>
            <a:chOff x="0" y="-130721"/>
            <a:chExt cx="2083482" cy="2013099"/>
          </a:xfrm>
        </p:grpSpPr>
        <p:sp>
          <p:nvSpPr>
            <p:cNvPr id="7" name="TextBox 7"/>
            <p:cNvSpPr txBox="1"/>
            <p:nvPr/>
          </p:nvSpPr>
          <p:spPr>
            <a:xfrm>
              <a:off x="75599" y="-130721"/>
              <a:ext cx="1932283" cy="2013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endParaRPr lang="en-US" sz="557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7512165" y="-155385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80152" y="1501775"/>
            <a:ext cx="14860309" cy="8133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0"/>
              </a:lnSpc>
            </a:pPr>
            <a:r>
              <a:rPr lang="en-US" sz="4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6. Frontend (Streamlit Web App)</a:t>
            </a:r>
          </a:p>
          <a:p>
            <a:pPr marL="896057" lvl="1" indent="-448029" algn="l">
              <a:lnSpc>
                <a:spcPts val="5810"/>
              </a:lnSpc>
              <a:buFont typeface="Arial"/>
              <a:buChar char="•"/>
            </a:pPr>
            <a:r>
              <a:rPr lang="en-US" sz="4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Upload PCB image.</a:t>
            </a:r>
          </a:p>
          <a:p>
            <a:pPr marL="896057" lvl="1" indent="-448029" algn="l">
              <a:lnSpc>
                <a:spcPts val="5810"/>
              </a:lnSpc>
              <a:buFont typeface="Arial"/>
              <a:buChar char="•"/>
            </a:pPr>
            <a:r>
              <a:rPr lang="en-US" sz="4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Get annotated output with contours + defect labels.</a:t>
            </a:r>
          </a:p>
          <a:p>
            <a:pPr marL="896057" lvl="1" indent="-448029" algn="l">
              <a:lnSpc>
                <a:spcPts val="5810"/>
              </a:lnSpc>
              <a:buFont typeface="Arial"/>
              <a:buChar char="•"/>
            </a:pPr>
            <a:r>
              <a:rPr lang="en-US" sz="4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Download option available for saving results.</a:t>
            </a:r>
          </a:p>
          <a:p>
            <a:pPr algn="l">
              <a:lnSpc>
                <a:spcPts val="5810"/>
              </a:lnSpc>
            </a:pPr>
            <a:r>
              <a:rPr lang="en-US" sz="4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7. Alternative View </a:t>
            </a:r>
          </a:p>
          <a:p>
            <a:pPr marL="896057" lvl="1" indent="-448029" algn="l">
              <a:lnSpc>
                <a:spcPts val="5810"/>
              </a:lnSpc>
              <a:buFont typeface="Arial"/>
              <a:buChar char="•"/>
            </a:pPr>
            <a:r>
              <a:rPr lang="en-US" sz="4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System also shows only the defected regions by giving the defected image only with our any refernece it compares with the similar images and give the output.</a:t>
            </a:r>
          </a:p>
          <a:p>
            <a:pPr marL="896057" lvl="1" indent="-448029" algn="l">
              <a:lnSpc>
                <a:spcPts val="5810"/>
              </a:lnSpc>
              <a:buFont typeface="Arial"/>
              <a:buChar char="•"/>
            </a:pPr>
            <a:r>
              <a:rPr lang="en-US" sz="4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Helps in identifying specific defects more clearly by comparing similarities.</a:t>
            </a:r>
          </a:p>
          <a:p>
            <a:pPr algn="l">
              <a:lnSpc>
                <a:spcPts val="5810"/>
              </a:lnSpc>
            </a:pPr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627362" y="0"/>
            <a:ext cx="937061" cy="10287000"/>
            <a:chOff x="0" y="0"/>
            <a:chExt cx="24679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798" cy="2709333"/>
            </a:xfrm>
            <a:custGeom>
              <a:avLst/>
              <a:gdLst/>
              <a:ahLst/>
              <a:cxnLst/>
              <a:rect l="l" t="t" r="r" b="b"/>
              <a:pathLst>
                <a:path w="246798" h="2709333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24679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9697545" y="878816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564423" y="-164117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-276225"/>
            <a:ext cx="16230600" cy="1353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MODEL TRAINING</a:t>
            </a:r>
          </a:p>
        </p:txBody>
      </p:sp>
      <p:sp>
        <p:nvSpPr>
          <p:cNvPr id="3" name="Freeform 3"/>
          <p:cNvSpPr/>
          <p:nvPr/>
        </p:nvSpPr>
        <p:spPr>
          <a:xfrm>
            <a:off x="13417488" y="614217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839777" y="943604"/>
            <a:ext cx="16235311" cy="9138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Model Used: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EfficientNet-B4 from PyTorch with ImageNet pretrained weights.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Modified the classifier layer for number of PCB defect classes.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Dataset &amp; Preprocessing: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Input: 128×128 cropped defect ROIs.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augmentation for training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Normalization applied to all images.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Train-validation split: 80%-20% (stratified by defect class).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Training Details: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Optimizer: Adam W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Loss Function: Cross-Entropy with label smoothing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Scheduler: Cosine Annealing LR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Mixed Precision Training: autocast + GradScaler for speed &amp; GPU efficiency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Early stopping: Patience, to avoid overfitting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14982801" y="637964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634953" y="904875"/>
            <a:ext cx="16241674" cy="876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2"/>
              </a:lnSpc>
            </a:pPr>
            <a:r>
              <a:rPr lang="en-US" sz="328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Training Loop: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For each batch: forward pass → loss → backward → optimizer step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Weighted sampling to handle class imbalance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Validation accuracy computed each epoch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Best model checkpoint saved automatically</a:t>
            </a:r>
          </a:p>
          <a:p>
            <a:pPr algn="l">
              <a:lnSpc>
                <a:spcPts val="4592"/>
              </a:lnSpc>
            </a:pPr>
            <a:r>
              <a:rPr lang="en-US" sz="328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Testing / Prediction: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Load trained checkpoint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Single ROI image tested using preprocessing transform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outputs top-3 predictions with probabilities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Final output: image displayed with predicted label + confidence</a:t>
            </a:r>
          </a:p>
          <a:p>
            <a:pPr algn="l">
              <a:lnSpc>
                <a:spcPts val="4592"/>
              </a:lnSpc>
            </a:pPr>
            <a:r>
              <a:rPr lang="en-US" sz="328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Results: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Achieved ≥90% accuracy on validation/test data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Stable training with low loss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Output visuals: Accuracy/loss curves &amp; confusion matrix</a:t>
            </a:r>
          </a:p>
          <a:p>
            <a:pPr algn="l">
              <a:lnSpc>
                <a:spcPts val="4592"/>
              </a:lnSpc>
            </a:pPr>
            <a:endParaRPr dirty="0"/>
          </a:p>
        </p:txBody>
      </p:sp>
      <p:sp>
        <p:nvSpPr>
          <p:cNvPr id="9" name="Freeform 9"/>
          <p:cNvSpPr/>
          <p:nvPr/>
        </p:nvSpPr>
        <p:spPr>
          <a:xfrm>
            <a:off x="-5838859" y="0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7442" y="-38728"/>
            <a:ext cx="14131713" cy="209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sz="5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FRONTEND &amp; BACKEND INTEGRATION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7968" y="2213620"/>
            <a:ext cx="17418457" cy="727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2"/>
              </a:lnSpc>
            </a:pPr>
            <a:r>
              <a:rPr lang="en-US" sz="370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Frontend (User Interface):</a:t>
            </a:r>
          </a:p>
          <a:p>
            <a:pPr marL="800824" lvl="1" indent="-400412" algn="l">
              <a:lnSpc>
                <a:spcPts val="5192"/>
              </a:lnSpc>
              <a:buFont typeface="Arial"/>
              <a:buChar char="•"/>
            </a:pPr>
            <a:r>
              <a:rPr lang="en-US" sz="37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Built using Streamlit, a Python framework for creating interactive web apps easily.</a:t>
            </a:r>
          </a:p>
          <a:p>
            <a:pPr marL="800824" lvl="1" indent="-400412" algn="l">
              <a:lnSpc>
                <a:spcPts val="5192"/>
              </a:lnSpc>
              <a:buFont typeface="Arial"/>
              <a:buChar char="•"/>
            </a:pPr>
            <a:r>
              <a:rPr lang="en-US" sz="37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Users can upload template and test PCB images directly in the browser.</a:t>
            </a:r>
          </a:p>
          <a:p>
            <a:pPr marL="800824" lvl="1" indent="-400412" algn="l">
              <a:lnSpc>
                <a:spcPts val="5192"/>
              </a:lnSpc>
              <a:buFont typeface="Arial"/>
              <a:buChar char="•"/>
            </a:pPr>
            <a:r>
              <a:rPr lang="en-US" sz="37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app displays annotated PCB images with:</a:t>
            </a:r>
          </a:p>
          <a:p>
            <a:pPr marL="1601649" lvl="2" indent="-533883" algn="l">
              <a:lnSpc>
                <a:spcPts val="5192"/>
              </a:lnSpc>
              <a:buFont typeface="Arial"/>
              <a:buChar char="⚬"/>
            </a:pPr>
            <a:r>
              <a:rPr lang="en-US" sz="37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Detected defect contours</a:t>
            </a:r>
          </a:p>
          <a:p>
            <a:pPr marL="1601649" lvl="2" indent="-533883" algn="l">
              <a:lnSpc>
                <a:spcPts val="5192"/>
              </a:lnSpc>
              <a:buFont typeface="Arial"/>
              <a:buChar char="⚬"/>
            </a:pPr>
            <a:r>
              <a:rPr lang="en-US" sz="37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Labels for each defect</a:t>
            </a:r>
          </a:p>
          <a:p>
            <a:pPr marL="800824" lvl="1" indent="-400412" algn="l">
              <a:lnSpc>
                <a:spcPts val="5192"/>
              </a:lnSpc>
              <a:buFont typeface="Arial"/>
              <a:buChar char="•"/>
            </a:pPr>
            <a:r>
              <a:rPr lang="en-US" sz="37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Download option: Users can save annotated images and a CSV log of defect predictions.</a:t>
            </a:r>
          </a:p>
          <a:p>
            <a:pPr marL="800824" lvl="1" indent="-400412" algn="l">
              <a:lnSpc>
                <a:spcPts val="5192"/>
              </a:lnSpc>
              <a:buFont typeface="Arial"/>
              <a:buChar char="•"/>
            </a:pPr>
            <a:r>
              <a:rPr lang="en-US" sz="37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Designed to be user-friendly for non-technical users, requiring no setup or coding knowledge.</a:t>
            </a:r>
          </a:p>
          <a:p>
            <a:pPr algn="l">
              <a:lnSpc>
                <a:spcPts val="5192"/>
              </a:lnSpc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-3231232" y="-12128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0721225" y="878816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85825"/>
            <a:ext cx="16115800" cy="9250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Backend (Processing &amp; Model Inference):</a:t>
            </a:r>
          </a:p>
          <a:p>
            <a:pPr marL="798836" lvl="1" indent="-399418" algn="l">
              <a:lnSpc>
                <a:spcPts val="5180"/>
              </a:lnSpc>
              <a:buFont typeface="Arial"/>
              <a:buChar char="•"/>
            </a:pPr>
            <a:r>
              <a:rPr lang="en-US" sz="37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Written in Python, modularized for image preprocessing and CNN inference.</a:t>
            </a:r>
          </a:p>
          <a:p>
            <a:pPr marL="798836" lvl="1" indent="-399418" algn="l">
              <a:lnSpc>
                <a:spcPts val="5180"/>
              </a:lnSpc>
              <a:buFont typeface="Arial"/>
              <a:buChar char="•"/>
            </a:pPr>
            <a:r>
              <a:rPr lang="en-US" sz="37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Workflow:</a:t>
            </a:r>
          </a:p>
          <a:p>
            <a:pPr marL="1597672" lvl="2" indent="-532557" algn="l">
              <a:lnSpc>
                <a:spcPts val="5180"/>
              </a:lnSpc>
              <a:buAutoNum type="alphaLcPeriod"/>
            </a:pPr>
            <a:r>
              <a:rPr lang="en-US" sz="37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Receive uploaded images from frontend</a:t>
            </a:r>
          </a:p>
          <a:p>
            <a:pPr marL="1597672" lvl="2" indent="-532557" algn="l">
              <a:lnSpc>
                <a:spcPts val="5180"/>
              </a:lnSpc>
              <a:buAutoNum type="alphaLcPeriod"/>
            </a:pPr>
            <a:r>
              <a:rPr lang="en-US" sz="37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Apply image subtraction, ROI extraction, contour detection</a:t>
            </a:r>
          </a:p>
          <a:p>
            <a:pPr marL="1597672" lvl="2" indent="-532557" algn="l">
              <a:lnSpc>
                <a:spcPts val="5180"/>
              </a:lnSpc>
              <a:buAutoNum type="alphaLcPeriod"/>
            </a:pPr>
            <a:r>
              <a:rPr lang="en-US" sz="37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Feed defect ROIs to EfficientNet-B4 model for classification</a:t>
            </a:r>
          </a:p>
          <a:p>
            <a:pPr marL="1597672" lvl="2" indent="-532557" algn="l">
              <a:lnSpc>
                <a:spcPts val="5180"/>
              </a:lnSpc>
              <a:buAutoNum type="alphaLcPeriod"/>
            </a:pPr>
            <a:r>
              <a:rPr lang="en-US" sz="37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Return annotated PCB images and prediction logs to frontend</a:t>
            </a:r>
          </a:p>
          <a:p>
            <a:pPr marL="798836" lvl="1" indent="-399418" algn="l">
              <a:lnSpc>
                <a:spcPts val="5180"/>
              </a:lnSpc>
              <a:buFont typeface="Arial"/>
              <a:buChar char="•"/>
            </a:pPr>
            <a:r>
              <a:rPr lang="en-US" sz="37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Optimized for real-time response</a:t>
            </a:r>
          </a:p>
          <a:p>
            <a:pPr algn="l">
              <a:lnSpc>
                <a:spcPts val="5180"/>
              </a:lnSpc>
            </a:pPr>
            <a:r>
              <a:rPr lang="en-US" sz="37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Visuals / Features:</a:t>
            </a:r>
          </a:p>
          <a:p>
            <a:pPr marL="798836" lvl="1" indent="-399418" algn="l">
              <a:lnSpc>
                <a:spcPts val="5180"/>
              </a:lnSpc>
              <a:buFont typeface="Arial"/>
              <a:buChar char="•"/>
            </a:pPr>
            <a:r>
              <a:rPr lang="en-US" sz="37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Screenshot of Streamlit UI with upload buttons, annotated results, and download links.</a:t>
            </a:r>
          </a:p>
          <a:p>
            <a:pPr marL="798836" lvl="1" indent="-399418" algn="l">
              <a:lnSpc>
                <a:spcPts val="5180"/>
              </a:lnSpc>
              <a:buFont typeface="Arial"/>
              <a:buChar char="•"/>
            </a:pPr>
            <a:r>
              <a:rPr lang="en-US" sz="37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Optional: Display side-by-side comparison (original vs annotated PCB).</a:t>
            </a:r>
          </a:p>
          <a:p>
            <a:pPr algn="l">
              <a:lnSpc>
                <a:spcPts val="5180"/>
              </a:lnSpc>
            </a:pPr>
            <a:endParaRPr dirty="0"/>
          </a:p>
        </p:txBody>
      </p:sp>
      <p:sp>
        <p:nvSpPr>
          <p:cNvPr id="6" name="TextBox 6"/>
          <p:cNvSpPr txBox="1"/>
          <p:nvPr/>
        </p:nvSpPr>
        <p:spPr>
          <a:xfrm>
            <a:off x="15915854" y="-98041"/>
            <a:ext cx="1449213" cy="150982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1263762" y="-145860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1804788" y="9258300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36560" y="1679438"/>
            <a:ext cx="16230600" cy="681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8"/>
              </a:lnSpc>
            </a:pPr>
            <a:r>
              <a:rPr lang="en-US" sz="3827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Defect Detection:</a:t>
            </a:r>
          </a:p>
          <a:p>
            <a:pPr marL="826324" lvl="1" indent="-413162" algn="l">
              <a:lnSpc>
                <a:spcPts val="5358"/>
              </a:lnSpc>
              <a:buFont typeface="Arial"/>
              <a:buChar char="•"/>
            </a:pPr>
            <a:r>
              <a:rPr lang="en-US" sz="3827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Detected defects accurately using bounding boxes.</a:t>
            </a:r>
          </a:p>
          <a:p>
            <a:pPr marL="826324" lvl="1" indent="-413162" algn="l">
              <a:lnSpc>
                <a:spcPts val="5358"/>
              </a:lnSpc>
              <a:buFont typeface="Arial"/>
              <a:buChar char="•"/>
            </a:pPr>
            <a:r>
              <a:rPr lang="en-US" sz="3827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Contours highlight the defective regions clearly.</a:t>
            </a:r>
          </a:p>
          <a:p>
            <a:pPr algn="l">
              <a:lnSpc>
                <a:spcPts val="5358"/>
              </a:lnSpc>
            </a:pPr>
            <a:r>
              <a:rPr lang="en-US" sz="3827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Classification:</a:t>
            </a:r>
          </a:p>
          <a:p>
            <a:pPr marL="826324" lvl="1" indent="-413162" algn="l">
              <a:lnSpc>
                <a:spcPts val="5358"/>
              </a:lnSpc>
              <a:buFont typeface="Arial"/>
              <a:buChar char="•"/>
            </a:pPr>
            <a:r>
              <a:rPr lang="en-US" sz="3827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Achieved ≥90% accuracy on test data.</a:t>
            </a:r>
          </a:p>
          <a:p>
            <a:pPr marL="826324" lvl="1" indent="-413162" algn="l">
              <a:lnSpc>
                <a:spcPts val="5358"/>
              </a:lnSpc>
              <a:buFont typeface="Arial"/>
              <a:buChar char="•"/>
            </a:pPr>
            <a:r>
              <a:rPr lang="en-US" sz="3827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Very low false positives and false negatives.</a:t>
            </a:r>
          </a:p>
          <a:p>
            <a:pPr algn="l">
              <a:lnSpc>
                <a:spcPts val="5358"/>
              </a:lnSpc>
            </a:pPr>
            <a:r>
              <a:rPr lang="en-US" sz="3827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Outputs:</a:t>
            </a:r>
          </a:p>
          <a:p>
            <a:pPr marL="826324" lvl="1" indent="-413162" algn="l">
              <a:lnSpc>
                <a:spcPts val="5358"/>
              </a:lnSpc>
              <a:buFont typeface="Arial"/>
              <a:buChar char="•"/>
            </a:pPr>
            <a:r>
              <a:rPr lang="en-US" sz="3827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Annotated PCBs showing defect locations and labels.</a:t>
            </a:r>
          </a:p>
          <a:p>
            <a:pPr marL="826324" lvl="1" indent="-413162" algn="l">
              <a:lnSpc>
                <a:spcPts val="5358"/>
              </a:lnSpc>
              <a:buFont typeface="Arial"/>
              <a:buChar char="•"/>
            </a:pPr>
            <a:r>
              <a:rPr lang="en-US" sz="3827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Can provide multiple views: full PCB and cropped defect ROIs.</a:t>
            </a:r>
          </a:p>
          <a:p>
            <a:pPr algn="l">
              <a:lnSpc>
                <a:spcPts val="5358"/>
              </a:lnSpc>
            </a:pPr>
            <a:endParaRPr dirty="0"/>
          </a:p>
        </p:txBody>
      </p:sp>
      <p:sp>
        <p:nvSpPr>
          <p:cNvPr id="8" name="Freeform 8"/>
          <p:cNvSpPr/>
          <p:nvPr/>
        </p:nvSpPr>
        <p:spPr>
          <a:xfrm>
            <a:off x="-3252481" y="-64594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4982801" y="5143500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4758062" y="47941"/>
            <a:ext cx="9700891" cy="1310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9"/>
              </a:lnSpc>
              <a:spcBef>
                <a:spcPct val="0"/>
              </a:spcBef>
            </a:pPr>
            <a:r>
              <a:rPr lang="en-US" sz="68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Results &amp; Evaluation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305875" y="-3123"/>
            <a:ext cx="10929913" cy="221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CONCLUSION &amp; FUTURE WORK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2137" y="2227039"/>
            <a:ext cx="16049630" cy="7821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368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Conclusion:</a:t>
            </a:r>
          </a:p>
          <a:p>
            <a:pPr marL="794597" lvl="1" indent="-397298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Successfully built an automated PCB defect detection &amp; classification system.</a:t>
            </a:r>
          </a:p>
          <a:p>
            <a:pPr marL="794597" lvl="1" indent="-397298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Used image subtraction + ROI/contour extraction + EfficientNet CNN for robust results.</a:t>
            </a:r>
          </a:p>
          <a:p>
            <a:pPr marL="794597" lvl="1" indent="-397298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Developed a fully functional frontend and backend web app with download capability.</a:t>
            </a:r>
          </a:p>
          <a:p>
            <a:pPr algn="l">
              <a:lnSpc>
                <a:spcPts val="5152"/>
              </a:lnSpc>
            </a:pPr>
            <a:r>
              <a:rPr lang="en-US" sz="368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Future Work:</a:t>
            </a:r>
          </a:p>
          <a:p>
            <a:pPr marL="794597" lvl="1" indent="-397298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Expand dataset and defect categories for broader applicability.</a:t>
            </a:r>
          </a:p>
          <a:p>
            <a:pPr marL="794597" lvl="1" indent="-397298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Deploy as a cloud-based inspection tool for remote access.</a:t>
            </a:r>
          </a:p>
          <a:p>
            <a:pPr marL="794597" lvl="1" indent="-397298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Optimize for real-time integration in manufacturing lines.</a:t>
            </a:r>
          </a:p>
          <a:p>
            <a:pPr algn="l">
              <a:lnSpc>
                <a:spcPts val="5152"/>
              </a:lnSpc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-3009325" y="-40227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0251" y="1714500"/>
            <a:ext cx="11627497" cy="5412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3"/>
              </a:lnSpc>
            </a:pPr>
            <a:r>
              <a:rPr lang="en-US" sz="14695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THANK YOU</a:t>
            </a:r>
          </a:p>
        </p:txBody>
      </p:sp>
      <p:sp>
        <p:nvSpPr>
          <p:cNvPr id="13" name="Freeform 13"/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17</TotalTime>
  <Words>924</Words>
  <Application>Microsoft Office PowerPoint</Application>
  <PresentationFormat>Custom</PresentationFormat>
  <Paragraphs>120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Times New Roman MT Bold</vt:lpstr>
      <vt:lpstr>Open Sans Bold</vt:lpstr>
      <vt:lpstr>Arial</vt:lpstr>
      <vt:lpstr>Times New Roman MT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defense</dc:title>
  <cp:lastModifiedBy>MUDIT KHATER</cp:lastModifiedBy>
  <cp:revision>4</cp:revision>
  <dcterms:created xsi:type="dcterms:W3CDTF">2006-08-16T00:00:00Z</dcterms:created>
  <dcterms:modified xsi:type="dcterms:W3CDTF">2025-10-10T09:04:00Z</dcterms:modified>
  <dc:identifier>DAG00d9wH0k</dc:identifier>
</cp:coreProperties>
</file>