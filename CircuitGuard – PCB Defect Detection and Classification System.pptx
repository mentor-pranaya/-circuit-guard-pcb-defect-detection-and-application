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31FD97-8EDC-436E-AF77-DBA4B4665F29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364A352-39E3-40D8-856A-B28C922BE8E7}">
      <dgm:prSet/>
      <dgm:spPr/>
      <dgm:t>
        <a:bodyPr/>
        <a:lstStyle/>
        <a:p>
          <a:r>
            <a:rPr lang="en-US"/>
            <a:t>Manual PCB inspection is </a:t>
          </a:r>
          <a:r>
            <a:rPr lang="en-US" b="1"/>
            <a:t>time-consuming</a:t>
          </a:r>
          <a:r>
            <a:rPr lang="en-US"/>
            <a:t> and </a:t>
          </a:r>
          <a:r>
            <a:rPr lang="en-US" b="1"/>
            <a:t>error-prone</a:t>
          </a:r>
          <a:r>
            <a:rPr lang="en-US"/>
            <a:t>.</a:t>
          </a:r>
        </a:p>
      </dgm:t>
    </dgm:pt>
    <dgm:pt modelId="{0237D87C-5CFE-442F-9B4C-CF13BA209EE9}" type="parTrans" cxnId="{41053419-285F-4A85-B141-5D01848DF0DE}">
      <dgm:prSet/>
      <dgm:spPr/>
      <dgm:t>
        <a:bodyPr/>
        <a:lstStyle/>
        <a:p>
          <a:endParaRPr lang="en-US"/>
        </a:p>
      </dgm:t>
    </dgm:pt>
    <dgm:pt modelId="{E2327B2D-5072-4522-8EB0-0084960E81DD}" type="sibTrans" cxnId="{41053419-285F-4A85-B141-5D01848DF0D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08341D0-C981-4E52-A8EB-A1E790AF0714}">
      <dgm:prSet/>
      <dgm:spPr/>
      <dgm:t>
        <a:bodyPr/>
        <a:lstStyle/>
        <a:p>
          <a:r>
            <a:rPr lang="en-US"/>
            <a:t>Traditional AOI systems produce </a:t>
          </a:r>
          <a:r>
            <a:rPr lang="en-US" b="1"/>
            <a:t>false positives</a:t>
          </a:r>
          <a:r>
            <a:rPr lang="en-US"/>
            <a:t> and require human validation.</a:t>
          </a:r>
        </a:p>
      </dgm:t>
    </dgm:pt>
    <dgm:pt modelId="{1127E9B4-9177-4A8B-8385-401BB41858A0}" type="parTrans" cxnId="{647B0033-DD13-4B6F-A376-D50121439293}">
      <dgm:prSet/>
      <dgm:spPr/>
      <dgm:t>
        <a:bodyPr/>
        <a:lstStyle/>
        <a:p>
          <a:endParaRPr lang="en-US"/>
        </a:p>
      </dgm:t>
    </dgm:pt>
    <dgm:pt modelId="{58B26F40-9094-419C-B641-3C548AB41BDE}" type="sibTrans" cxnId="{647B0033-DD13-4B6F-A376-D50121439293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F90041EF-7382-40BD-8A40-B7374E5E9CAD}">
      <dgm:prSet/>
      <dgm:spPr/>
      <dgm:t>
        <a:bodyPr/>
        <a:lstStyle/>
        <a:p>
          <a:r>
            <a:rPr lang="en-US"/>
            <a:t>Complex, miniaturized PCBs demand </a:t>
          </a:r>
          <a:r>
            <a:rPr lang="en-US" b="1"/>
            <a:t>automated, intelligent inspection</a:t>
          </a:r>
          <a:r>
            <a:rPr lang="en-US"/>
            <a:t>.</a:t>
          </a:r>
        </a:p>
      </dgm:t>
    </dgm:pt>
    <dgm:pt modelId="{09AE8557-F707-445B-8B1D-9F55DF1E1901}" type="parTrans" cxnId="{ACACCBF1-EC7E-4ACD-AC6C-726E8EAB5F06}">
      <dgm:prSet/>
      <dgm:spPr/>
      <dgm:t>
        <a:bodyPr/>
        <a:lstStyle/>
        <a:p>
          <a:endParaRPr lang="en-US"/>
        </a:p>
      </dgm:t>
    </dgm:pt>
    <dgm:pt modelId="{55236945-7755-4D88-98A9-023AAE797FA6}" type="sibTrans" cxnId="{ACACCBF1-EC7E-4ACD-AC6C-726E8EAB5F0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9581D2A-BE6F-4441-B63D-E2E8B76895D7}">
      <dgm:prSet/>
      <dgm:spPr/>
      <dgm:t>
        <a:bodyPr/>
        <a:lstStyle/>
        <a:p>
          <a:r>
            <a:rPr lang="en-US"/>
            <a:t>Goal: Develop a </a:t>
          </a:r>
          <a:r>
            <a:rPr lang="en-US" b="1"/>
            <a:t>deep-learning-based system</a:t>
          </a:r>
          <a:r>
            <a:rPr lang="en-US"/>
            <a:t> to accurately detect and classify PCB defects.</a:t>
          </a:r>
        </a:p>
      </dgm:t>
    </dgm:pt>
    <dgm:pt modelId="{9D7F0A7C-1351-48ED-9D31-6A67F829A66E}" type="parTrans" cxnId="{FB18365B-C02B-4F59-819F-CA12E514758D}">
      <dgm:prSet/>
      <dgm:spPr/>
      <dgm:t>
        <a:bodyPr/>
        <a:lstStyle/>
        <a:p>
          <a:endParaRPr lang="en-US"/>
        </a:p>
      </dgm:t>
    </dgm:pt>
    <dgm:pt modelId="{17EC735E-B8C2-4277-B8A0-CE9C062DAEAE}" type="sibTrans" cxnId="{FB18365B-C02B-4F59-819F-CA12E514758D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196B2416-44B2-452D-93B5-C4F0B2C9A487}" type="pres">
      <dgm:prSet presAssocID="{C531FD97-8EDC-436E-AF77-DBA4B4665F29}" presName="Name0" presStyleCnt="0">
        <dgm:presLayoutVars>
          <dgm:animLvl val="lvl"/>
          <dgm:resizeHandles val="exact"/>
        </dgm:presLayoutVars>
      </dgm:prSet>
      <dgm:spPr/>
    </dgm:pt>
    <dgm:pt modelId="{50D86EE3-4AD9-4D2B-A861-B305249C5B6B}" type="pres">
      <dgm:prSet presAssocID="{9364A352-39E3-40D8-856A-B28C922BE8E7}" presName="compositeNode" presStyleCnt="0">
        <dgm:presLayoutVars>
          <dgm:bulletEnabled val="1"/>
        </dgm:presLayoutVars>
      </dgm:prSet>
      <dgm:spPr/>
    </dgm:pt>
    <dgm:pt modelId="{C7BEEF22-B345-4E29-9409-41CBF8D49626}" type="pres">
      <dgm:prSet presAssocID="{9364A352-39E3-40D8-856A-B28C922BE8E7}" presName="bgRect" presStyleLbl="bgAccFollowNode1" presStyleIdx="0" presStyleCnt="4"/>
      <dgm:spPr/>
    </dgm:pt>
    <dgm:pt modelId="{0FABB1F9-4F87-4FDC-B094-16AF745B3465}" type="pres">
      <dgm:prSet presAssocID="{E2327B2D-5072-4522-8EB0-0084960E81DD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51F423EC-4669-4E52-A577-F28D95D71ADD}" type="pres">
      <dgm:prSet presAssocID="{9364A352-39E3-40D8-856A-B28C922BE8E7}" presName="bottomLine" presStyleLbl="alignNode1" presStyleIdx="1" presStyleCnt="8">
        <dgm:presLayoutVars/>
      </dgm:prSet>
      <dgm:spPr/>
    </dgm:pt>
    <dgm:pt modelId="{C3E1A5A2-B16D-4C43-B46E-8AEAC3A810F8}" type="pres">
      <dgm:prSet presAssocID="{9364A352-39E3-40D8-856A-B28C922BE8E7}" presName="nodeText" presStyleLbl="bgAccFollowNode1" presStyleIdx="0" presStyleCnt="4">
        <dgm:presLayoutVars>
          <dgm:bulletEnabled val="1"/>
        </dgm:presLayoutVars>
      </dgm:prSet>
      <dgm:spPr/>
    </dgm:pt>
    <dgm:pt modelId="{1471CD96-693F-41EE-B827-1FEE0956FC36}" type="pres">
      <dgm:prSet presAssocID="{E2327B2D-5072-4522-8EB0-0084960E81DD}" presName="sibTrans" presStyleCnt="0"/>
      <dgm:spPr/>
    </dgm:pt>
    <dgm:pt modelId="{00B44AA3-ACFE-4E52-9BD3-609D6C641310}" type="pres">
      <dgm:prSet presAssocID="{F08341D0-C981-4E52-A8EB-A1E790AF0714}" presName="compositeNode" presStyleCnt="0">
        <dgm:presLayoutVars>
          <dgm:bulletEnabled val="1"/>
        </dgm:presLayoutVars>
      </dgm:prSet>
      <dgm:spPr/>
    </dgm:pt>
    <dgm:pt modelId="{E5ABEEA6-A835-4D89-A38F-E13585A4408B}" type="pres">
      <dgm:prSet presAssocID="{F08341D0-C981-4E52-A8EB-A1E790AF0714}" presName="bgRect" presStyleLbl="bgAccFollowNode1" presStyleIdx="1" presStyleCnt="4"/>
      <dgm:spPr/>
    </dgm:pt>
    <dgm:pt modelId="{B431ED0D-A43B-4E9E-A79A-75580517C402}" type="pres">
      <dgm:prSet presAssocID="{58B26F40-9094-419C-B641-3C548AB41BDE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6E1BC217-78F2-4597-9EB9-A9F36BFE219D}" type="pres">
      <dgm:prSet presAssocID="{F08341D0-C981-4E52-A8EB-A1E790AF0714}" presName="bottomLine" presStyleLbl="alignNode1" presStyleIdx="3" presStyleCnt="8">
        <dgm:presLayoutVars/>
      </dgm:prSet>
      <dgm:spPr/>
    </dgm:pt>
    <dgm:pt modelId="{C3F616AA-779D-4D13-9182-66D43071F4CA}" type="pres">
      <dgm:prSet presAssocID="{F08341D0-C981-4E52-A8EB-A1E790AF0714}" presName="nodeText" presStyleLbl="bgAccFollowNode1" presStyleIdx="1" presStyleCnt="4">
        <dgm:presLayoutVars>
          <dgm:bulletEnabled val="1"/>
        </dgm:presLayoutVars>
      </dgm:prSet>
      <dgm:spPr/>
    </dgm:pt>
    <dgm:pt modelId="{839B3526-E29C-42A2-A5E6-61585B15FA06}" type="pres">
      <dgm:prSet presAssocID="{58B26F40-9094-419C-B641-3C548AB41BDE}" presName="sibTrans" presStyleCnt="0"/>
      <dgm:spPr/>
    </dgm:pt>
    <dgm:pt modelId="{72C71005-90A4-4DF3-B864-FA59B4BA3012}" type="pres">
      <dgm:prSet presAssocID="{F90041EF-7382-40BD-8A40-B7374E5E9CAD}" presName="compositeNode" presStyleCnt="0">
        <dgm:presLayoutVars>
          <dgm:bulletEnabled val="1"/>
        </dgm:presLayoutVars>
      </dgm:prSet>
      <dgm:spPr/>
    </dgm:pt>
    <dgm:pt modelId="{1F8E2BF8-DBE6-4DF3-9EBF-2C451BCDD0A2}" type="pres">
      <dgm:prSet presAssocID="{F90041EF-7382-40BD-8A40-B7374E5E9CAD}" presName="bgRect" presStyleLbl="bgAccFollowNode1" presStyleIdx="2" presStyleCnt="4"/>
      <dgm:spPr/>
    </dgm:pt>
    <dgm:pt modelId="{BD579336-FDAF-49E4-96E2-3C20154DE55D}" type="pres">
      <dgm:prSet presAssocID="{55236945-7755-4D88-98A9-023AAE797FA6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9D86773D-8DD9-4C98-A78E-43FEF7508F5F}" type="pres">
      <dgm:prSet presAssocID="{F90041EF-7382-40BD-8A40-B7374E5E9CAD}" presName="bottomLine" presStyleLbl="alignNode1" presStyleIdx="5" presStyleCnt="8">
        <dgm:presLayoutVars/>
      </dgm:prSet>
      <dgm:spPr/>
    </dgm:pt>
    <dgm:pt modelId="{6C4FE74B-832B-4286-A3D9-0A93BD056CB6}" type="pres">
      <dgm:prSet presAssocID="{F90041EF-7382-40BD-8A40-B7374E5E9CAD}" presName="nodeText" presStyleLbl="bgAccFollowNode1" presStyleIdx="2" presStyleCnt="4">
        <dgm:presLayoutVars>
          <dgm:bulletEnabled val="1"/>
        </dgm:presLayoutVars>
      </dgm:prSet>
      <dgm:spPr/>
    </dgm:pt>
    <dgm:pt modelId="{23F65569-584E-4C4B-B177-FB5975FFB003}" type="pres">
      <dgm:prSet presAssocID="{55236945-7755-4D88-98A9-023AAE797FA6}" presName="sibTrans" presStyleCnt="0"/>
      <dgm:spPr/>
    </dgm:pt>
    <dgm:pt modelId="{B4710D4F-968F-4321-B223-FB36D02A3FB5}" type="pres">
      <dgm:prSet presAssocID="{89581D2A-BE6F-4441-B63D-E2E8B76895D7}" presName="compositeNode" presStyleCnt="0">
        <dgm:presLayoutVars>
          <dgm:bulletEnabled val="1"/>
        </dgm:presLayoutVars>
      </dgm:prSet>
      <dgm:spPr/>
    </dgm:pt>
    <dgm:pt modelId="{8113FFE8-1582-42B1-BB35-AE18A26482E1}" type="pres">
      <dgm:prSet presAssocID="{89581D2A-BE6F-4441-B63D-E2E8B76895D7}" presName="bgRect" presStyleLbl="bgAccFollowNode1" presStyleIdx="3" presStyleCnt="4"/>
      <dgm:spPr/>
    </dgm:pt>
    <dgm:pt modelId="{55F51CAF-C4F4-40C3-B3C8-FE7D74FB529F}" type="pres">
      <dgm:prSet presAssocID="{17EC735E-B8C2-4277-B8A0-CE9C062DAEAE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97CBE668-8B4A-44D9-B5CA-B6A3BFEEB240}" type="pres">
      <dgm:prSet presAssocID="{89581D2A-BE6F-4441-B63D-E2E8B76895D7}" presName="bottomLine" presStyleLbl="alignNode1" presStyleIdx="7" presStyleCnt="8">
        <dgm:presLayoutVars/>
      </dgm:prSet>
      <dgm:spPr/>
    </dgm:pt>
    <dgm:pt modelId="{54277FCA-E33F-4AB6-883E-1DFB255D1925}" type="pres">
      <dgm:prSet presAssocID="{89581D2A-BE6F-4441-B63D-E2E8B76895D7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04D79F05-285C-47CD-BFAA-F026CAF8BDC6}" type="presOf" srcId="{E2327B2D-5072-4522-8EB0-0084960E81DD}" destId="{0FABB1F9-4F87-4FDC-B094-16AF745B3465}" srcOrd="0" destOrd="0" presId="urn:microsoft.com/office/officeart/2016/7/layout/BasicLinearProcessNumbered"/>
    <dgm:cxn modelId="{7E8E980D-C389-4BA7-B628-74FA0ADB6DA8}" type="presOf" srcId="{9364A352-39E3-40D8-856A-B28C922BE8E7}" destId="{C3E1A5A2-B16D-4C43-B46E-8AEAC3A810F8}" srcOrd="1" destOrd="0" presId="urn:microsoft.com/office/officeart/2016/7/layout/BasicLinearProcessNumbered"/>
    <dgm:cxn modelId="{41053419-285F-4A85-B141-5D01848DF0DE}" srcId="{C531FD97-8EDC-436E-AF77-DBA4B4665F29}" destId="{9364A352-39E3-40D8-856A-B28C922BE8E7}" srcOrd="0" destOrd="0" parTransId="{0237D87C-5CFE-442F-9B4C-CF13BA209EE9}" sibTransId="{E2327B2D-5072-4522-8EB0-0084960E81DD}"/>
    <dgm:cxn modelId="{E5210C32-9231-4B3A-88B0-19F9DB26465B}" type="presOf" srcId="{89581D2A-BE6F-4441-B63D-E2E8B76895D7}" destId="{54277FCA-E33F-4AB6-883E-1DFB255D1925}" srcOrd="1" destOrd="0" presId="urn:microsoft.com/office/officeart/2016/7/layout/BasicLinearProcessNumbered"/>
    <dgm:cxn modelId="{647B0033-DD13-4B6F-A376-D50121439293}" srcId="{C531FD97-8EDC-436E-AF77-DBA4B4665F29}" destId="{F08341D0-C981-4E52-A8EB-A1E790AF0714}" srcOrd="1" destOrd="0" parTransId="{1127E9B4-9177-4A8B-8385-401BB41858A0}" sibTransId="{58B26F40-9094-419C-B641-3C548AB41BDE}"/>
    <dgm:cxn modelId="{9A63723B-3616-4CA8-9ED3-6C2AB84D0705}" type="presOf" srcId="{F08341D0-C981-4E52-A8EB-A1E790AF0714}" destId="{C3F616AA-779D-4D13-9182-66D43071F4CA}" srcOrd="1" destOrd="0" presId="urn:microsoft.com/office/officeart/2016/7/layout/BasicLinearProcessNumbered"/>
    <dgm:cxn modelId="{3758CA3B-E76E-41A7-9B57-94062238BE18}" type="presOf" srcId="{9364A352-39E3-40D8-856A-B28C922BE8E7}" destId="{C7BEEF22-B345-4E29-9409-41CBF8D49626}" srcOrd="0" destOrd="0" presId="urn:microsoft.com/office/officeart/2016/7/layout/BasicLinearProcessNumbered"/>
    <dgm:cxn modelId="{FB18365B-C02B-4F59-819F-CA12E514758D}" srcId="{C531FD97-8EDC-436E-AF77-DBA4B4665F29}" destId="{89581D2A-BE6F-4441-B63D-E2E8B76895D7}" srcOrd="3" destOrd="0" parTransId="{9D7F0A7C-1351-48ED-9D31-6A67F829A66E}" sibTransId="{17EC735E-B8C2-4277-B8A0-CE9C062DAEAE}"/>
    <dgm:cxn modelId="{74302548-6980-4F5A-84A2-F17F2E6A11CC}" type="presOf" srcId="{89581D2A-BE6F-4441-B63D-E2E8B76895D7}" destId="{8113FFE8-1582-42B1-BB35-AE18A26482E1}" srcOrd="0" destOrd="0" presId="urn:microsoft.com/office/officeart/2016/7/layout/BasicLinearProcessNumbered"/>
    <dgm:cxn modelId="{56ADA470-54E9-4B2B-B4F0-7406BF9F7943}" type="presOf" srcId="{17EC735E-B8C2-4277-B8A0-CE9C062DAEAE}" destId="{55F51CAF-C4F4-40C3-B3C8-FE7D74FB529F}" srcOrd="0" destOrd="0" presId="urn:microsoft.com/office/officeart/2016/7/layout/BasicLinearProcessNumbered"/>
    <dgm:cxn modelId="{98EF6272-55D0-46A9-9F3C-CD21D44F6CFB}" type="presOf" srcId="{55236945-7755-4D88-98A9-023AAE797FA6}" destId="{BD579336-FDAF-49E4-96E2-3C20154DE55D}" srcOrd="0" destOrd="0" presId="urn:microsoft.com/office/officeart/2016/7/layout/BasicLinearProcessNumbered"/>
    <dgm:cxn modelId="{D461297A-848E-4057-A1E1-6B669527AFAE}" type="presOf" srcId="{F08341D0-C981-4E52-A8EB-A1E790AF0714}" destId="{E5ABEEA6-A835-4D89-A38F-E13585A4408B}" srcOrd="0" destOrd="0" presId="urn:microsoft.com/office/officeart/2016/7/layout/BasicLinearProcessNumbered"/>
    <dgm:cxn modelId="{B43E415A-987B-48E1-80A2-978102F0B452}" type="presOf" srcId="{C531FD97-8EDC-436E-AF77-DBA4B4665F29}" destId="{196B2416-44B2-452D-93B5-C4F0B2C9A487}" srcOrd="0" destOrd="0" presId="urn:microsoft.com/office/officeart/2016/7/layout/BasicLinearProcessNumbered"/>
    <dgm:cxn modelId="{931969C5-66DD-4D3C-9357-3D8FBDC1FBE5}" type="presOf" srcId="{F90041EF-7382-40BD-8A40-B7374E5E9CAD}" destId="{6C4FE74B-832B-4286-A3D9-0A93BD056CB6}" srcOrd="1" destOrd="0" presId="urn:microsoft.com/office/officeart/2016/7/layout/BasicLinearProcessNumbered"/>
    <dgm:cxn modelId="{C8D237D6-8612-490E-811F-3CD7C4508F51}" type="presOf" srcId="{F90041EF-7382-40BD-8A40-B7374E5E9CAD}" destId="{1F8E2BF8-DBE6-4DF3-9EBF-2C451BCDD0A2}" srcOrd="0" destOrd="0" presId="urn:microsoft.com/office/officeart/2016/7/layout/BasicLinearProcessNumbered"/>
    <dgm:cxn modelId="{09AF08EA-3F9A-4B79-A056-0BC16742F154}" type="presOf" srcId="{58B26F40-9094-419C-B641-3C548AB41BDE}" destId="{B431ED0D-A43B-4E9E-A79A-75580517C402}" srcOrd="0" destOrd="0" presId="urn:microsoft.com/office/officeart/2016/7/layout/BasicLinearProcessNumbered"/>
    <dgm:cxn modelId="{ACACCBF1-EC7E-4ACD-AC6C-726E8EAB5F06}" srcId="{C531FD97-8EDC-436E-AF77-DBA4B4665F29}" destId="{F90041EF-7382-40BD-8A40-B7374E5E9CAD}" srcOrd="2" destOrd="0" parTransId="{09AE8557-F707-445B-8B1D-9F55DF1E1901}" sibTransId="{55236945-7755-4D88-98A9-023AAE797FA6}"/>
    <dgm:cxn modelId="{603BC1ED-F256-4474-9E7E-84C8135A7BA4}" type="presParOf" srcId="{196B2416-44B2-452D-93B5-C4F0B2C9A487}" destId="{50D86EE3-4AD9-4D2B-A861-B305249C5B6B}" srcOrd="0" destOrd="0" presId="urn:microsoft.com/office/officeart/2016/7/layout/BasicLinearProcessNumbered"/>
    <dgm:cxn modelId="{E6A281AC-5585-4B7B-A61E-B920DE1C7539}" type="presParOf" srcId="{50D86EE3-4AD9-4D2B-A861-B305249C5B6B}" destId="{C7BEEF22-B345-4E29-9409-41CBF8D49626}" srcOrd="0" destOrd="0" presId="urn:microsoft.com/office/officeart/2016/7/layout/BasicLinearProcessNumbered"/>
    <dgm:cxn modelId="{BCCBDCE9-E874-4C68-B196-3A15C0F651AE}" type="presParOf" srcId="{50D86EE3-4AD9-4D2B-A861-B305249C5B6B}" destId="{0FABB1F9-4F87-4FDC-B094-16AF745B3465}" srcOrd="1" destOrd="0" presId="urn:microsoft.com/office/officeart/2016/7/layout/BasicLinearProcessNumbered"/>
    <dgm:cxn modelId="{3BC71B53-75DC-4BC7-AA42-581D93D7C3EF}" type="presParOf" srcId="{50D86EE3-4AD9-4D2B-A861-B305249C5B6B}" destId="{51F423EC-4669-4E52-A577-F28D95D71ADD}" srcOrd="2" destOrd="0" presId="urn:microsoft.com/office/officeart/2016/7/layout/BasicLinearProcessNumbered"/>
    <dgm:cxn modelId="{C93D99B4-A256-489C-B746-694FFD451F95}" type="presParOf" srcId="{50D86EE3-4AD9-4D2B-A861-B305249C5B6B}" destId="{C3E1A5A2-B16D-4C43-B46E-8AEAC3A810F8}" srcOrd="3" destOrd="0" presId="urn:microsoft.com/office/officeart/2016/7/layout/BasicLinearProcessNumbered"/>
    <dgm:cxn modelId="{2A9094E2-B6C2-4440-AC5F-2AF1D3F6AA99}" type="presParOf" srcId="{196B2416-44B2-452D-93B5-C4F0B2C9A487}" destId="{1471CD96-693F-41EE-B827-1FEE0956FC36}" srcOrd="1" destOrd="0" presId="urn:microsoft.com/office/officeart/2016/7/layout/BasicLinearProcessNumbered"/>
    <dgm:cxn modelId="{1C3C0B17-7E6C-4CE0-9F9E-9CAA519D0E97}" type="presParOf" srcId="{196B2416-44B2-452D-93B5-C4F0B2C9A487}" destId="{00B44AA3-ACFE-4E52-9BD3-609D6C641310}" srcOrd="2" destOrd="0" presId="urn:microsoft.com/office/officeart/2016/7/layout/BasicLinearProcessNumbered"/>
    <dgm:cxn modelId="{F2801A1C-DD9C-4E17-8AB8-3981C2AA4485}" type="presParOf" srcId="{00B44AA3-ACFE-4E52-9BD3-609D6C641310}" destId="{E5ABEEA6-A835-4D89-A38F-E13585A4408B}" srcOrd="0" destOrd="0" presId="urn:microsoft.com/office/officeart/2016/7/layout/BasicLinearProcessNumbered"/>
    <dgm:cxn modelId="{62C9F1ED-61D3-4B8C-AC6B-A0A5882E3B8C}" type="presParOf" srcId="{00B44AA3-ACFE-4E52-9BD3-609D6C641310}" destId="{B431ED0D-A43B-4E9E-A79A-75580517C402}" srcOrd="1" destOrd="0" presId="urn:microsoft.com/office/officeart/2016/7/layout/BasicLinearProcessNumbered"/>
    <dgm:cxn modelId="{581108FD-4C27-4136-9ECA-4AF11AA79561}" type="presParOf" srcId="{00B44AA3-ACFE-4E52-9BD3-609D6C641310}" destId="{6E1BC217-78F2-4597-9EB9-A9F36BFE219D}" srcOrd="2" destOrd="0" presId="urn:microsoft.com/office/officeart/2016/7/layout/BasicLinearProcessNumbered"/>
    <dgm:cxn modelId="{B7823A89-B612-4F8E-AB2D-ABE8BC6C2BE6}" type="presParOf" srcId="{00B44AA3-ACFE-4E52-9BD3-609D6C641310}" destId="{C3F616AA-779D-4D13-9182-66D43071F4CA}" srcOrd="3" destOrd="0" presId="urn:microsoft.com/office/officeart/2016/7/layout/BasicLinearProcessNumbered"/>
    <dgm:cxn modelId="{B6F89625-4268-409B-A4AA-4CA04C0386FA}" type="presParOf" srcId="{196B2416-44B2-452D-93B5-C4F0B2C9A487}" destId="{839B3526-E29C-42A2-A5E6-61585B15FA06}" srcOrd="3" destOrd="0" presId="urn:microsoft.com/office/officeart/2016/7/layout/BasicLinearProcessNumbered"/>
    <dgm:cxn modelId="{7C7664CB-DD4D-4B75-A2E4-67772290527B}" type="presParOf" srcId="{196B2416-44B2-452D-93B5-C4F0B2C9A487}" destId="{72C71005-90A4-4DF3-B864-FA59B4BA3012}" srcOrd="4" destOrd="0" presId="urn:microsoft.com/office/officeart/2016/7/layout/BasicLinearProcessNumbered"/>
    <dgm:cxn modelId="{DEDC9DAF-B934-4AE4-B886-E548DD773446}" type="presParOf" srcId="{72C71005-90A4-4DF3-B864-FA59B4BA3012}" destId="{1F8E2BF8-DBE6-4DF3-9EBF-2C451BCDD0A2}" srcOrd="0" destOrd="0" presId="urn:microsoft.com/office/officeart/2016/7/layout/BasicLinearProcessNumbered"/>
    <dgm:cxn modelId="{ACF4F715-E460-47DE-B1F7-7B27E91479A0}" type="presParOf" srcId="{72C71005-90A4-4DF3-B864-FA59B4BA3012}" destId="{BD579336-FDAF-49E4-96E2-3C20154DE55D}" srcOrd="1" destOrd="0" presId="urn:microsoft.com/office/officeart/2016/7/layout/BasicLinearProcessNumbered"/>
    <dgm:cxn modelId="{06267B18-909F-4697-B47B-A7928A929A2C}" type="presParOf" srcId="{72C71005-90A4-4DF3-B864-FA59B4BA3012}" destId="{9D86773D-8DD9-4C98-A78E-43FEF7508F5F}" srcOrd="2" destOrd="0" presId="urn:microsoft.com/office/officeart/2016/7/layout/BasicLinearProcessNumbered"/>
    <dgm:cxn modelId="{EE9F1177-B12B-4823-9A56-034B6D667D77}" type="presParOf" srcId="{72C71005-90A4-4DF3-B864-FA59B4BA3012}" destId="{6C4FE74B-832B-4286-A3D9-0A93BD056CB6}" srcOrd="3" destOrd="0" presId="urn:microsoft.com/office/officeart/2016/7/layout/BasicLinearProcessNumbered"/>
    <dgm:cxn modelId="{F22AB916-A46B-40C6-BE5A-F98D90F742A4}" type="presParOf" srcId="{196B2416-44B2-452D-93B5-C4F0B2C9A487}" destId="{23F65569-584E-4C4B-B177-FB5975FFB003}" srcOrd="5" destOrd="0" presId="urn:microsoft.com/office/officeart/2016/7/layout/BasicLinearProcessNumbered"/>
    <dgm:cxn modelId="{14A2824F-36E9-4D50-82BB-B51CBA467C55}" type="presParOf" srcId="{196B2416-44B2-452D-93B5-C4F0B2C9A487}" destId="{B4710D4F-968F-4321-B223-FB36D02A3FB5}" srcOrd="6" destOrd="0" presId="urn:microsoft.com/office/officeart/2016/7/layout/BasicLinearProcessNumbered"/>
    <dgm:cxn modelId="{5850A052-A8C3-40D0-8756-29724AFFF253}" type="presParOf" srcId="{B4710D4F-968F-4321-B223-FB36D02A3FB5}" destId="{8113FFE8-1582-42B1-BB35-AE18A26482E1}" srcOrd="0" destOrd="0" presId="urn:microsoft.com/office/officeart/2016/7/layout/BasicLinearProcessNumbered"/>
    <dgm:cxn modelId="{77AE7B4D-89FF-450C-AB54-B0C10C80FC2F}" type="presParOf" srcId="{B4710D4F-968F-4321-B223-FB36D02A3FB5}" destId="{55F51CAF-C4F4-40C3-B3C8-FE7D74FB529F}" srcOrd="1" destOrd="0" presId="urn:microsoft.com/office/officeart/2016/7/layout/BasicLinearProcessNumbered"/>
    <dgm:cxn modelId="{8C07269E-9309-492B-8A50-D265C91A1716}" type="presParOf" srcId="{B4710D4F-968F-4321-B223-FB36D02A3FB5}" destId="{97CBE668-8B4A-44D9-B5CA-B6A3BFEEB240}" srcOrd="2" destOrd="0" presId="urn:microsoft.com/office/officeart/2016/7/layout/BasicLinearProcessNumbered"/>
    <dgm:cxn modelId="{218940A7-B217-40AB-9110-044039D545BC}" type="presParOf" srcId="{B4710D4F-968F-4321-B223-FB36D02A3FB5}" destId="{54277FCA-E33F-4AB6-883E-1DFB255D192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BEEF22-B345-4E29-9409-41CBF8D49626}">
      <dsp:nvSpPr>
        <dsp:cNvPr id="0" name=""/>
        <dsp:cNvSpPr/>
      </dsp:nvSpPr>
      <dsp:spPr>
        <a:xfrm>
          <a:off x="3190" y="97528"/>
          <a:ext cx="2531290" cy="354380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9" tIns="330200" rIns="1973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Manual PCB inspection is </a:t>
          </a:r>
          <a:r>
            <a:rPr lang="en-US" sz="1800" b="1" kern="1200"/>
            <a:t>time-consuming</a:t>
          </a:r>
          <a:r>
            <a:rPr lang="en-US" sz="1800" kern="1200"/>
            <a:t> and </a:t>
          </a:r>
          <a:r>
            <a:rPr lang="en-US" sz="1800" b="1" kern="1200"/>
            <a:t>error-prone</a:t>
          </a:r>
          <a:r>
            <a:rPr lang="en-US" sz="1800" kern="1200"/>
            <a:t>.</a:t>
          </a:r>
        </a:p>
      </dsp:txBody>
      <dsp:txXfrm>
        <a:off x="3190" y="1444174"/>
        <a:ext cx="2531290" cy="2126283"/>
      </dsp:txXfrm>
    </dsp:sp>
    <dsp:sp modelId="{0FABB1F9-4F87-4FDC-B094-16AF745B3465}">
      <dsp:nvSpPr>
        <dsp:cNvPr id="0" name=""/>
        <dsp:cNvSpPr/>
      </dsp:nvSpPr>
      <dsp:spPr>
        <a:xfrm>
          <a:off x="737264" y="451909"/>
          <a:ext cx="1063141" cy="1063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887" tIns="12700" rIns="8288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92957" y="607602"/>
        <a:ext cx="751755" cy="751755"/>
      </dsp:txXfrm>
    </dsp:sp>
    <dsp:sp modelId="{51F423EC-4669-4E52-A577-F28D95D71ADD}">
      <dsp:nvSpPr>
        <dsp:cNvPr id="0" name=""/>
        <dsp:cNvSpPr/>
      </dsp:nvSpPr>
      <dsp:spPr>
        <a:xfrm>
          <a:off x="3190" y="3641262"/>
          <a:ext cx="2531290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ABEEA6-A835-4D89-A38F-E13585A4408B}">
      <dsp:nvSpPr>
        <dsp:cNvPr id="0" name=""/>
        <dsp:cNvSpPr/>
      </dsp:nvSpPr>
      <dsp:spPr>
        <a:xfrm>
          <a:off x="2787609" y="97528"/>
          <a:ext cx="2531290" cy="354380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9" tIns="330200" rIns="1973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Traditional AOI systems produce </a:t>
          </a:r>
          <a:r>
            <a:rPr lang="en-US" sz="1800" b="1" kern="1200"/>
            <a:t>false positives</a:t>
          </a:r>
          <a:r>
            <a:rPr lang="en-US" sz="1800" kern="1200"/>
            <a:t> and require human validation.</a:t>
          </a:r>
        </a:p>
      </dsp:txBody>
      <dsp:txXfrm>
        <a:off x="2787609" y="1444174"/>
        <a:ext cx="2531290" cy="2126283"/>
      </dsp:txXfrm>
    </dsp:sp>
    <dsp:sp modelId="{B431ED0D-A43B-4E9E-A79A-75580517C402}">
      <dsp:nvSpPr>
        <dsp:cNvPr id="0" name=""/>
        <dsp:cNvSpPr/>
      </dsp:nvSpPr>
      <dsp:spPr>
        <a:xfrm>
          <a:off x="3521683" y="451909"/>
          <a:ext cx="1063141" cy="1063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887" tIns="12700" rIns="8288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77376" y="607602"/>
        <a:ext cx="751755" cy="751755"/>
      </dsp:txXfrm>
    </dsp:sp>
    <dsp:sp modelId="{6E1BC217-78F2-4597-9EB9-A9F36BFE219D}">
      <dsp:nvSpPr>
        <dsp:cNvPr id="0" name=""/>
        <dsp:cNvSpPr/>
      </dsp:nvSpPr>
      <dsp:spPr>
        <a:xfrm>
          <a:off x="2787609" y="3641262"/>
          <a:ext cx="2531290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E2BF8-DBE6-4DF3-9EBF-2C451BCDD0A2}">
      <dsp:nvSpPr>
        <dsp:cNvPr id="0" name=""/>
        <dsp:cNvSpPr/>
      </dsp:nvSpPr>
      <dsp:spPr>
        <a:xfrm>
          <a:off x="5572029" y="97528"/>
          <a:ext cx="2531290" cy="3543806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9" tIns="330200" rIns="1973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Complex, miniaturized PCBs demand </a:t>
          </a:r>
          <a:r>
            <a:rPr lang="en-US" sz="1800" b="1" kern="1200"/>
            <a:t>automated, intelligent inspection</a:t>
          </a:r>
          <a:r>
            <a:rPr lang="en-US" sz="1800" kern="1200"/>
            <a:t>.</a:t>
          </a:r>
        </a:p>
      </dsp:txBody>
      <dsp:txXfrm>
        <a:off x="5572029" y="1444174"/>
        <a:ext cx="2531290" cy="2126283"/>
      </dsp:txXfrm>
    </dsp:sp>
    <dsp:sp modelId="{BD579336-FDAF-49E4-96E2-3C20154DE55D}">
      <dsp:nvSpPr>
        <dsp:cNvPr id="0" name=""/>
        <dsp:cNvSpPr/>
      </dsp:nvSpPr>
      <dsp:spPr>
        <a:xfrm>
          <a:off x="6306103" y="451909"/>
          <a:ext cx="1063141" cy="106314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887" tIns="12700" rIns="8288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61796" y="607602"/>
        <a:ext cx="751755" cy="751755"/>
      </dsp:txXfrm>
    </dsp:sp>
    <dsp:sp modelId="{9D86773D-8DD9-4C98-A78E-43FEF7508F5F}">
      <dsp:nvSpPr>
        <dsp:cNvPr id="0" name=""/>
        <dsp:cNvSpPr/>
      </dsp:nvSpPr>
      <dsp:spPr>
        <a:xfrm>
          <a:off x="5572029" y="3641262"/>
          <a:ext cx="2531290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13FFE8-1582-42B1-BB35-AE18A26482E1}">
      <dsp:nvSpPr>
        <dsp:cNvPr id="0" name=""/>
        <dsp:cNvSpPr/>
      </dsp:nvSpPr>
      <dsp:spPr>
        <a:xfrm>
          <a:off x="8356448" y="97528"/>
          <a:ext cx="2531290" cy="354380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49" tIns="330200" rIns="1973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Goal: Develop a </a:t>
          </a:r>
          <a:r>
            <a:rPr lang="en-US" sz="1800" b="1" kern="1200"/>
            <a:t>deep-learning-based system</a:t>
          </a:r>
          <a:r>
            <a:rPr lang="en-US" sz="1800" kern="1200"/>
            <a:t> to accurately detect and classify PCB defects.</a:t>
          </a:r>
        </a:p>
      </dsp:txBody>
      <dsp:txXfrm>
        <a:off x="8356448" y="1444174"/>
        <a:ext cx="2531290" cy="2126283"/>
      </dsp:txXfrm>
    </dsp:sp>
    <dsp:sp modelId="{55F51CAF-C4F4-40C3-B3C8-FE7D74FB529F}">
      <dsp:nvSpPr>
        <dsp:cNvPr id="0" name=""/>
        <dsp:cNvSpPr/>
      </dsp:nvSpPr>
      <dsp:spPr>
        <a:xfrm>
          <a:off x="9090522" y="451909"/>
          <a:ext cx="1063141" cy="1063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887" tIns="12700" rIns="8288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9246215" y="607602"/>
        <a:ext cx="751755" cy="751755"/>
      </dsp:txXfrm>
    </dsp:sp>
    <dsp:sp modelId="{97CBE668-8B4A-44D9-B5CA-B6A3BFEEB240}">
      <dsp:nvSpPr>
        <dsp:cNvPr id="0" name=""/>
        <dsp:cNvSpPr/>
      </dsp:nvSpPr>
      <dsp:spPr>
        <a:xfrm>
          <a:off x="8356448" y="3641262"/>
          <a:ext cx="2531290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94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45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853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93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72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4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827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39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40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21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086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237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9A9681A-2486-4655-A876-E26402CA2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Close-up of circuit board">
            <a:extLst>
              <a:ext uri="{FF2B5EF4-FFF2-40B4-BE49-F238E27FC236}">
                <a16:creationId xmlns:a16="http://schemas.microsoft.com/office/drawing/2014/main" id="{B643A4A6-2493-24E2-E4F6-A851F09A14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2175" b="3557"/>
          <a:stretch>
            <a:fillRect/>
          </a:stretch>
        </p:blipFill>
        <p:spPr>
          <a:xfrm>
            <a:off x="2" y="152"/>
            <a:ext cx="12191998" cy="685784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9BB6818-31C2-4340-98F8-64FF7F46A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B2DBB7-8055-6216-EA69-DEC384B68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758629" cy="269686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dirty="0" err="1">
                <a:solidFill>
                  <a:srgbClr val="FFFFFF"/>
                </a:solidFill>
              </a:rPr>
              <a:t>CircuitGuard</a:t>
            </a:r>
            <a:r>
              <a:rPr lang="en-US" sz="4600" dirty="0">
                <a:solidFill>
                  <a:srgbClr val="FFFFFF"/>
                </a:solidFill>
              </a:rPr>
              <a:t> – PCB Defect Detection and Classification System</a:t>
            </a:r>
            <a:endParaRPr lang="en-IN" sz="46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1F7EAB-DF07-B3A6-95BA-CF2B838AE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402572" cy="1287887"/>
          </a:xfrm>
        </p:spPr>
        <p:txBody>
          <a:bodyPr anchor="b"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M Venkata Satheesh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5675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C355DE-CEC8-7C21-E192-4C3598A15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IN" dirty="0"/>
              <a:t>Problem Statement</a:t>
            </a:r>
            <a:br>
              <a:rPr lang="en-IN" dirty="0"/>
            </a:br>
            <a:endParaRPr lang="en-I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EA9BC7-B784-2796-7323-3CF3556D8D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7415328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2161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97D15-56D0-74E5-312C-BE66F11F6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Project Objectives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56E8D-8BC1-E7A7-4875-2B1F2CD53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Detect and classify PCB defects automatically.</a:t>
            </a:r>
          </a:p>
          <a:p>
            <a:r>
              <a:rPr lang="en-US" dirty="0"/>
              <a:t>Implement </a:t>
            </a:r>
            <a:r>
              <a:rPr lang="en-US" b="1" dirty="0"/>
              <a:t>image subtraction</a:t>
            </a:r>
            <a:r>
              <a:rPr lang="en-US" dirty="0"/>
              <a:t> and </a:t>
            </a:r>
            <a:r>
              <a:rPr lang="en-US" b="1" dirty="0"/>
              <a:t>contour-based ROI extraction</a:t>
            </a:r>
            <a:r>
              <a:rPr lang="en-US" dirty="0"/>
              <a:t>.</a:t>
            </a:r>
          </a:p>
          <a:p>
            <a:r>
              <a:rPr lang="en-US" dirty="0"/>
              <a:t>Train an </a:t>
            </a:r>
            <a:r>
              <a:rPr lang="en-US" b="1" dirty="0"/>
              <a:t>EfficientNet-B4</a:t>
            </a:r>
            <a:r>
              <a:rPr lang="en-US" dirty="0"/>
              <a:t> model for defect classification.</a:t>
            </a:r>
          </a:p>
          <a:p>
            <a:r>
              <a:rPr lang="en-US" dirty="0"/>
              <a:t>Build a </a:t>
            </a:r>
            <a:r>
              <a:rPr lang="en-US" b="1" dirty="0"/>
              <a:t>web-based interface</a:t>
            </a:r>
            <a:r>
              <a:rPr lang="en-US" dirty="0"/>
              <a:t> for uploading images and viewing results.</a:t>
            </a:r>
          </a:p>
          <a:p>
            <a:r>
              <a:rPr lang="en-US" dirty="0"/>
              <a:t>Enable </a:t>
            </a:r>
            <a:r>
              <a:rPr lang="en-US" b="1" dirty="0"/>
              <a:t>export</a:t>
            </a:r>
            <a:r>
              <a:rPr lang="en-US" dirty="0"/>
              <a:t> of annotated outputs and prediction logs.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9668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9E4D19-F660-C2B8-54D8-DEDF33BEF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400" dirty="0"/>
              <a:t>System Modules</a:t>
            </a:r>
            <a:br>
              <a:rPr lang="en-IN" sz="3400" dirty="0"/>
            </a:br>
            <a:endParaRPr lang="en-IN" sz="3400" dirty="0"/>
          </a:p>
        </p:txBody>
      </p:sp>
      <p:pic>
        <p:nvPicPr>
          <p:cNvPr id="13" name="Picture 12" descr="Blue blocks and networks technology background">
            <a:extLst>
              <a:ext uri="{FF2B5EF4-FFF2-40B4-BE49-F238E27FC236}">
                <a16:creationId xmlns:a16="http://schemas.microsoft.com/office/drawing/2014/main" id="{CE374669-2535-E2CE-0673-82A26323E5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22" r="45533" b="-446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C0097-5B15-8005-20DC-A5769255A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r>
              <a:rPr lang="en-IN" dirty="0"/>
              <a:t>Image Preprocessing &amp; Subtraction</a:t>
            </a:r>
          </a:p>
          <a:p>
            <a:r>
              <a:rPr lang="en-IN" dirty="0"/>
              <a:t>Contour Extraction &amp; ROI Segmentation</a:t>
            </a:r>
          </a:p>
          <a:p>
            <a:r>
              <a:rPr lang="en-IN" dirty="0"/>
              <a:t>EfficientNet-B4 Model Training</a:t>
            </a:r>
          </a:p>
          <a:p>
            <a:r>
              <a:rPr lang="en-IN" dirty="0"/>
              <a:t>Frontend (Web UI) Development</a:t>
            </a:r>
          </a:p>
          <a:p>
            <a:r>
              <a:rPr lang="en-IN" dirty="0"/>
              <a:t>Backend Pipeline Integration</a:t>
            </a:r>
          </a:p>
          <a:p>
            <a:r>
              <a:rPr lang="en-IN" dirty="0"/>
              <a:t>Testing, Evaluation &amp; Exporting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7748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9FEFA5-E084-5524-9E55-B23629364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568" y="1371600"/>
            <a:ext cx="5732441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400"/>
              <a:t>Dataset Overview</a:t>
            </a:r>
            <a:br>
              <a:rPr lang="en-IN" sz="3400"/>
            </a:br>
            <a:endParaRPr lang="en-IN" sz="3400"/>
          </a:p>
        </p:txBody>
      </p:sp>
      <p:pic>
        <p:nvPicPr>
          <p:cNvPr id="8" name="Picture 7" descr="A green circuit board with silver and black dots&#10;&#10;AI-generated content may be incorrect.">
            <a:extLst>
              <a:ext uri="{FF2B5EF4-FFF2-40B4-BE49-F238E27FC236}">
                <a16:creationId xmlns:a16="http://schemas.microsoft.com/office/drawing/2014/main" id="{C0B450FE-639F-8ECE-75EE-2224797B1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073" y="643465"/>
            <a:ext cx="2959942" cy="266394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8D00D77-D299-4699-8F8E-BD436FF71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86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green circuit board with many small holes&#10;&#10;AI-generated content may be incorrect.">
            <a:extLst>
              <a:ext uri="{FF2B5EF4-FFF2-40B4-BE49-F238E27FC236}">
                <a16:creationId xmlns:a16="http://schemas.microsoft.com/office/drawing/2014/main" id="{B3E9C4E8-3C9F-AA9E-6763-D8E4BCC80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3633965"/>
            <a:ext cx="4235624" cy="221311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44D6923-CF6E-C7D1-8A91-0A384D4FC5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98568" y="2636205"/>
            <a:ext cx="5732441" cy="36617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Dataset: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PCB_circuit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Contains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template (defect-free)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test (defective)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image pairs.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Defect Types: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Missing Hole, Mouse Bite, Open Circuit, Short, Spur, Spurious Copper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Image Resolution: 512 × 512 pixels</a:t>
            </a:r>
          </a:p>
        </p:txBody>
      </p:sp>
    </p:spTree>
    <p:extLst>
      <p:ext uri="{BB962C8B-B14F-4D97-AF65-F5344CB8AC3E}">
        <p14:creationId xmlns:p14="http://schemas.microsoft.com/office/powerpoint/2010/main" val="222035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B72BE3-B183-5AED-DD02-84E16B206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400"/>
              <a:t>Methodology</a:t>
            </a:r>
            <a:br>
              <a:rPr lang="en-IN" sz="3400"/>
            </a:br>
            <a:endParaRPr lang="en-IN" sz="34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2213BB84-8CED-7094-0067-2FC44BE37A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633236"/>
            <a:ext cx="5737860" cy="36669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Image Subtraction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to highlight defect regions.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Otsu’s Thresholding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for binary mask generation.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Contour Detection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to locate defects.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ROI Cropping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for defect samples.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EfficientNet-B4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CNN trained using PyTorch for classification.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Output: Annotated image + Prediction log.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480783-2484-8C57-1168-D3E258A40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50498" y="914400"/>
            <a:ext cx="2585191" cy="53858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67008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5C6600-932C-30F4-2594-B476DDA05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Training Performance</a:t>
            </a:r>
            <a:br>
              <a:rPr lang="en-US" sz="3700"/>
            </a:br>
            <a:endParaRPr lang="en-US" sz="370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B63F7B2-7D87-B7A1-6248-4E5F60051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5150" y="2256287"/>
            <a:ext cx="4563618" cy="37604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Training Accuracy: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99%</a:t>
            </a:r>
          </a:p>
          <a:p>
            <a:pPr marL="0" marR="0" lvl="0" indent="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Validation Accuracy: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97%</a:t>
            </a:r>
          </a:p>
          <a:p>
            <a:pPr marL="0" marR="0" lvl="0" indent="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Model converged smoothly with minimal overfitting.</a:t>
            </a:r>
          </a:p>
          <a:p>
            <a:pPr marL="0" marR="0" lvl="0" indent="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EfficientNet achieved high generalization on unseen data.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469544-1BC6-C8BF-BF62-9536E04DDD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3178356"/>
              </p:ext>
            </p:extLst>
          </p:nvPr>
        </p:nvGraphicFramePr>
        <p:xfrm>
          <a:off x="713232" y="2473811"/>
          <a:ext cx="5648195" cy="332541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47647">
                  <a:extLst>
                    <a:ext uri="{9D8B030D-6E8A-4147-A177-3AD203B41FA5}">
                      <a16:colId xmlns:a16="http://schemas.microsoft.com/office/drawing/2014/main" val="845650052"/>
                    </a:ext>
                  </a:extLst>
                </a:gridCol>
                <a:gridCol w="1337833">
                  <a:extLst>
                    <a:ext uri="{9D8B030D-6E8A-4147-A177-3AD203B41FA5}">
                      <a16:colId xmlns:a16="http://schemas.microsoft.com/office/drawing/2014/main" val="4064160692"/>
                    </a:ext>
                  </a:extLst>
                </a:gridCol>
                <a:gridCol w="1026345">
                  <a:extLst>
                    <a:ext uri="{9D8B030D-6E8A-4147-A177-3AD203B41FA5}">
                      <a16:colId xmlns:a16="http://schemas.microsoft.com/office/drawing/2014/main" val="1740209228"/>
                    </a:ext>
                  </a:extLst>
                </a:gridCol>
                <a:gridCol w="1336370">
                  <a:extLst>
                    <a:ext uri="{9D8B030D-6E8A-4147-A177-3AD203B41FA5}">
                      <a16:colId xmlns:a16="http://schemas.microsoft.com/office/drawing/2014/main" val="4125773515"/>
                    </a:ext>
                  </a:extLst>
                </a:gridCol>
              </a:tblGrid>
              <a:tr h="487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cap="none" spc="0">
                          <a:solidFill>
                            <a:schemeClr val="tx1"/>
                          </a:solidFill>
                        </a:rPr>
                        <a:t>Defect Type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cap="none" spc="0">
                          <a:solidFill>
                            <a:schemeClr val="tx1"/>
                          </a:solidFill>
                        </a:rPr>
                        <a:t>Precision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cap="none" spc="0">
                          <a:solidFill>
                            <a:schemeClr val="tx1"/>
                          </a:solidFill>
                        </a:rPr>
                        <a:t>Recall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cap="none" spc="0">
                          <a:solidFill>
                            <a:schemeClr val="tx1"/>
                          </a:solidFill>
                        </a:rPr>
                        <a:t>F1-Score</a:t>
                      </a:r>
                    </a:p>
                  </a:txBody>
                  <a:tcPr marL="123301" marR="123301" marT="86311" marB="86311" anchor="ctr"/>
                </a:tc>
                <a:extLst>
                  <a:ext uri="{0D108BD9-81ED-4DB2-BD59-A6C34878D82A}">
                    <a16:rowId xmlns:a16="http://schemas.microsoft.com/office/drawing/2014/main" val="888085057"/>
                  </a:ext>
                </a:extLst>
              </a:tr>
              <a:tr h="487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Missing Hole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1.00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1.00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1.00</a:t>
                      </a:r>
                    </a:p>
                  </a:txBody>
                  <a:tcPr marL="123301" marR="123301" marT="86311" marB="86311" anchor="ctr"/>
                </a:tc>
                <a:extLst>
                  <a:ext uri="{0D108BD9-81ED-4DB2-BD59-A6C34878D82A}">
                    <a16:rowId xmlns:a16="http://schemas.microsoft.com/office/drawing/2014/main" val="2364091190"/>
                  </a:ext>
                </a:extLst>
              </a:tr>
              <a:tr h="459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Mouse Bite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0.94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0.94</a:t>
                      </a:r>
                    </a:p>
                  </a:txBody>
                  <a:tcPr marL="123301" marR="123301" marT="86311" marB="86311" anchor="ctr"/>
                </a:tc>
                <a:extLst>
                  <a:ext uri="{0D108BD9-81ED-4DB2-BD59-A6C34878D82A}">
                    <a16:rowId xmlns:a16="http://schemas.microsoft.com/office/drawing/2014/main" val="2946912761"/>
                  </a:ext>
                </a:extLst>
              </a:tr>
              <a:tr h="487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Open Circuit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0.96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0.93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0.94</a:t>
                      </a:r>
                    </a:p>
                  </a:txBody>
                  <a:tcPr marL="123301" marR="123301" marT="86311" marB="86311" anchor="ctr"/>
                </a:tc>
                <a:extLst>
                  <a:ext uri="{0D108BD9-81ED-4DB2-BD59-A6C34878D82A}">
                    <a16:rowId xmlns:a16="http://schemas.microsoft.com/office/drawing/2014/main" val="3026736483"/>
                  </a:ext>
                </a:extLst>
              </a:tr>
              <a:tr h="459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Short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0.92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0.97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0.94</a:t>
                      </a:r>
                    </a:p>
                  </a:txBody>
                  <a:tcPr marL="123301" marR="123301" marT="86311" marB="86311" anchor="ctr"/>
                </a:tc>
                <a:extLst>
                  <a:ext uri="{0D108BD9-81ED-4DB2-BD59-A6C34878D82A}">
                    <a16:rowId xmlns:a16="http://schemas.microsoft.com/office/drawing/2014/main" val="486327012"/>
                  </a:ext>
                </a:extLst>
              </a:tr>
              <a:tr h="487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Spur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0.96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0.90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0.93</a:t>
                      </a:r>
                    </a:p>
                  </a:txBody>
                  <a:tcPr marL="123301" marR="123301" marT="86311" marB="86311" anchor="ctr"/>
                </a:tc>
                <a:extLst>
                  <a:ext uri="{0D108BD9-81ED-4DB2-BD59-A6C34878D82A}">
                    <a16:rowId xmlns:a16="http://schemas.microsoft.com/office/drawing/2014/main" val="420512253"/>
                  </a:ext>
                </a:extLst>
              </a:tr>
              <a:tr h="459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Spurious Copper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0.94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0.97</a:t>
                      </a:r>
                    </a:p>
                  </a:txBody>
                  <a:tcPr marL="123301" marR="123301" marT="86311" marB="863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marL="123301" marR="123301" marT="86311" marB="86311" anchor="ctr"/>
                </a:tc>
                <a:extLst>
                  <a:ext uri="{0D108BD9-81ED-4DB2-BD59-A6C34878D82A}">
                    <a16:rowId xmlns:a16="http://schemas.microsoft.com/office/drawing/2014/main" val="3934947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413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D928D9-9D69-B912-54D4-5B85BC176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700"/>
              <a:t>Web Application Interface</a:t>
            </a:r>
            <a:br>
              <a:rPr lang="en-IN" sz="3700"/>
            </a:br>
            <a:endParaRPr lang="en-IN" sz="37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986164-5A5C-1C08-F0A9-33CB83966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53" y="2222092"/>
            <a:ext cx="5851374" cy="304271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9F1081F-26BE-4A5E-B092-956DC675C1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15150" y="2256287"/>
            <a:ext cx="4563618" cy="37604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Built with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HTML/CSS/Flask Upload: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Template &amp; Test PCB images.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Backend performs processing and model inference.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Annotated image with defect labels + CSV log.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Response time ≈ 5 seconds per image.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470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92DC2-94AE-61E2-5526-D839A93D0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IN"/>
              <a:t>Output Demonstration</a:t>
            </a:r>
          </a:p>
        </p:txBody>
      </p:sp>
      <p:pic>
        <p:nvPicPr>
          <p:cNvPr id="6" name="Picture 5" descr="A green circuit board with many small circles and dots&#10;&#10;AI-generated content may be incorrect.">
            <a:extLst>
              <a:ext uri="{FF2B5EF4-FFF2-40B4-BE49-F238E27FC236}">
                <a16:creationId xmlns:a16="http://schemas.microsoft.com/office/drawing/2014/main" id="{2B16C1E2-4351-ACB1-EB59-3E80C39FF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53866"/>
            <a:ext cx="5648193" cy="29653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A34A3-E9B8-AB7E-D8F7-A1AD47F75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en-US" b="1"/>
              <a:t>System Output Overview: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 application generates </a:t>
            </a:r>
            <a:r>
              <a:rPr lang="en-US" b="1"/>
              <a:t>annotated PCB images</a:t>
            </a:r>
            <a:r>
              <a:rPr lang="en-US"/>
              <a:t> with </a:t>
            </a:r>
            <a:r>
              <a:rPr lang="en-US" b="1"/>
              <a:t>bounding boxes</a:t>
            </a:r>
            <a:r>
              <a:rPr lang="en-US"/>
              <a:t> and </a:t>
            </a:r>
            <a:r>
              <a:rPr lang="en-US" b="1"/>
              <a:t>defect labels</a:t>
            </a:r>
            <a:r>
              <a:rPr lang="en-US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 </a:t>
            </a:r>
            <a:r>
              <a:rPr lang="en-US" b="1"/>
              <a:t>prediction log (CSV file)</a:t>
            </a:r>
            <a:r>
              <a:rPr lang="en-US"/>
              <a:t> is automatically created for detailed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Both outputs can be </a:t>
            </a:r>
            <a:r>
              <a:rPr lang="en-US" b="1"/>
              <a:t>downloaded directly</a:t>
            </a:r>
            <a:r>
              <a:rPr lang="en-US"/>
              <a:t> from the web interface.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775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78CC9-18FB-4592-9CB2-2913B145D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Conclusion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8B146-92FE-54E9-5C39-40F1C9157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developed an </a:t>
            </a:r>
            <a:r>
              <a:rPr lang="en-US" b="1" dirty="0"/>
              <a:t>end-to-end automated PCB Defect Detection and Classification System</a:t>
            </a:r>
            <a:r>
              <a:rPr lang="en-US" dirty="0"/>
              <a:t>.</a:t>
            </a:r>
          </a:p>
          <a:p>
            <a:r>
              <a:rPr lang="en-US" dirty="0"/>
              <a:t>Achieved an impressive </a:t>
            </a:r>
            <a:r>
              <a:rPr lang="en-US" b="1" dirty="0"/>
              <a:t>97% overall accuracy</a:t>
            </a:r>
            <a:r>
              <a:rPr lang="en-US" dirty="0"/>
              <a:t> using the </a:t>
            </a:r>
            <a:r>
              <a:rPr lang="en-US" b="1" dirty="0"/>
              <a:t>EfficientNet-B4 deep learning model</a:t>
            </a:r>
            <a:r>
              <a:rPr lang="en-US" dirty="0"/>
              <a:t>.</a:t>
            </a:r>
          </a:p>
          <a:p>
            <a:r>
              <a:rPr lang="en-US" dirty="0"/>
              <a:t>Implemented a </a:t>
            </a:r>
            <a:r>
              <a:rPr lang="en-US" b="1" dirty="0"/>
              <a:t>complete image processing and inference pipeline</a:t>
            </a:r>
            <a:r>
              <a:rPr lang="en-US" dirty="0"/>
              <a:t> integrating  </a:t>
            </a:r>
            <a:r>
              <a:rPr lang="en-US" b="1" dirty="0" err="1"/>
              <a:t>PyTorch</a:t>
            </a:r>
            <a:r>
              <a:rPr lang="en-US" dirty="0"/>
              <a:t>, and a </a:t>
            </a:r>
            <a:r>
              <a:rPr lang="en-US" b="1" dirty="0"/>
              <a:t>web-based frontend</a:t>
            </a:r>
            <a:r>
              <a:rPr lang="en-US" dirty="0"/>
              <a:t>.</a:t>
            </a:r>
          </a:p>
          <a:p>
            <a:r>
              <a:rPr lang="en-US" dirty="0"/>
              <a:t>The system delivers </a:t>
            </a:r>
            <a:r>
              <a:rPr lang="en-US" b="1" dirty="0"/>
              <a:t>fast, reliable, and highly accurate defect detection</a:t>
            </a:r>
            <a:r>
              <a:rPr lang="en-US" dirty="0"/>
              <a:t>, enabling </a:t>
            </a:r>
            <a:r>
              <a:rPr lang="en-US" b="1" dirty="0"/>
              <a:t>smarter and more efficient PCB quality inspection</a:t>
            </a:r>
            <a:r>
              <a:rPr lang="en-US" dirty="0"/>
              <a:t>.</a:t>
            </a:r>
          </a:p>
          <a:p>
            <a:r>
              <a:rPr lang="en-US" dirty="0"/>
              <a:t>Represents a </a:t>
            </a:r>
            <a:r>
              <a:rPr lang="en-US" b="1" dirty="0"/>
              <a:t>scalable, industry-ready solution</a:t>
            </a:r>
            <a:r>
              <a:rPr lang="en-US" dirty="0"/>
              <a:t> for modern electronics manufacturing.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486748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453</Words>
  <Application>Microsoft Office PowerPoint</Application>
  <PresentationFormat>Widescreen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Grandview Display</vt:lpstr>
      <vt:lpstr>DashVTI</vt:lpstr>
      <vt:lpstr>CircuitGuard – PCB Defect Detection and Classification System</vt:lpstr>
      <vt:lpstr>Problem Statement </vt:lpstr>
      <vt:lpstr>Project Objectives </vt:lpstr>
      <vt:lpstr>System Modules </vt:lpstr>
      <vt:lpstr>Dataset Overview </vt:lpstr>
      <vt:lpstr>Methodology </vt:lpstr>
      <vt:lpstr>Training Performance </vt:lpstr>
      <vt:lpstr>Web Application Interface </vt:lpstr>
      <vt:lpstr>Output Demonstration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Satheesh M</dc:creator>
  <cp:lastModifiedBy>Venkata Satheesh M</cp:lastModifiedBy>
  <cp:revision>1</cp:revision>
  <dcterms:created xsi:type="dcterms:W3CDTF">2025-10-10T12:24:58Z</dcterms:created>
  <dcterms:modified xsi:type="dcterms:W3CDTF">2025-10-10T12:45:12Z</dcterms:modified>
</cp:coreProperties>
</file>