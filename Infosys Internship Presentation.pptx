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Helvetica World" charset="1" panose="020B0500040000020004"/>
      <p:regular r:id="rId17"/>
    </p:embeddedFont>
    <p:embeddedFont>
      <p:font typeface="Poppins Bold" charset="1" panose="00000800000000000000"/>
      <p:regular r:id="rId18"/>
    </p:embeddedFont>
    <p:embeddedFont>
      <p:font typeface="Poppins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VAG1OkuUJ9I.mp4" Type="http://schemas.openxmlformats.org/officeDocument/2006/relationships/video"/><Relationship Id="rId4" Target="../media/VAG1OkuUJ9I.mp4" Type="http://schemas.microsoft.com/office/2007/relationships/media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374917" y="2167687"/>
            <a:ext cx="5951625" cy="5951625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39305" t="0" r="-3930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14774" y="2482012"/>
            <a:ext cx="10554592" cy="2671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14"/>
              </a:lnSpc>
            </a:pPr>
            <a:r>
              <a:rPr lang="en-US" sz="8499" spc="-552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CircuitGuard - PCB Defect  Detection  and Classification  Application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8658477"/>
            <a:ext cx="10554592" cy="599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7"/>
              </a:lnSpc>
            </a:pPr>
            <a:r>
              <a:rPr lang="en-US" sz="5300" spc="-344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- KAVYA 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6755700" y="400708"/>
            <a:ext cx="1160735" cy="116073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7061391" y="708343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065865" y="1418408"/>
            <a:ext cx="16156270" cy="8229600"/>
          </a:xfrm>
          <a:prstGeom prst="rect">
            <a:avLst/>
          </a:prstGeom>
        </p:spPr>
      </p:pic>
      <p:grpSp>
        <p:nvGrpSpPr>
          <p:cNvPr name="Group 6" id="6"/>
          <p:cNvGrpSpPr/>
          <p:nvPr/>
        </p:nvGrpSpPr>
        <p:grpSpPr>
          <a:xfrm rot="0">
            <a:off x="16678933" y="400548"/>
            <a:ext cx="1160735" cy="116073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7026769" y="670083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70369" y="4001112"/>
            <a:ext cx="4780569" cy="478056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-91387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333631" y="1581150"/>
            <a:ext cx="9434614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Introduction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17714" y="3064643"/>
            <a:ext cx="12509001" cy="6567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Overview: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Printed Circuit Boards (PCBs) are prone to defects that affect the reliability and performance of electronic devices.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Manual inspection is slow, error-prone, and not scalable for mass production.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This project develops an automated defect detection system combining image processing and deep learning, specifically using EfficientNet-B4.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workflow includes image subtraction, ROI extraction, model training, evaluation, and frontend integration to deliver accurate results in real-time.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Key Features: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High accuracy (~97%) in classifying multiple defect types.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Real-time predictions via a Streamlit UI, making it user-friendly for non-technical users.</a:t>
            </a:r>
          </a:p>
          <a:p>
            <a:pPr algn="l">
              <a:lnSpc>
                <a:spcPts val="3641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Generates annotated outputs with bounding boxes and defect labels.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6678933" y="448333"/>
            <a:ext cx="1160735" cy="116073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7003674" y="7468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49383" y="3590520"/>
            <a:ext cx="16064046" cy="5343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Identify defect regions by comparing reference and test images.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Image Subtraction: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Loaded reference (template) and defected PCB images.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Aligned images to ensure pixel-level correspondence.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Subtracted the reference from the defected image to highlight areas of difference, representing potential defects.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Thresholding and Enhancement: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Applied Gaussian blur to reduce noise in the difference map.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Used Otsu’s thresholding to convert the difference map into a clear binary mask.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processed image shows highlighted defect regions, ready for ROI extraction.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3631" y="1810881"/>
            <a:ext cx="13906620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Image Subtraction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03674" y="689133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49383" y="3035808"/>
            <a:ext cx="17394606" cy="6943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Objective: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Extract defect regions to create a dataset for model training.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Contour Detection: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Applied OpenCV contour detection to find connected regions in the thresholded difference map.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Filtered out small and noisy contours to ensure only relevant defects were captured.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Excluded contours touching the image borders to avoid background or alignment noise (not part of the PCB).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Bounding Boxes and Cropping: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Generated bounding boxes around valid contours.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Cropped ROIs from the defected image corresponding to each bounding box.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Datas</a:t>
            </a: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et Preparation: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Labeled ROIs according to defect types (missing hole, mouse bite, short, etc.).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Stored ROI information in a CSV file, mapping each ROI image to its label.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772" y="1552575"/>
            <a:ext cx="10848318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ROI Extraction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13199" y="6986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669946" y="3131058"/>
            <a:ext cx="15686723" cy="587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Objective: 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Train EfficientNet-B4 model to classify defect types.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Data Preparation: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Resized ROIs to 128×128 pixels for consistency.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Applied normalization to standardize pixel values and improve model stability during training.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Training Process:</a:t>
            </a:r>
          </a:p>
          <a:p>
            <a:pPr algn="l" marL="647886" indent="-323943" lvl="1">
              <a:lnSpc>
                <a:spcPts val="4201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Split dataset into training and test sets (70% training, 30% testing) 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Optimiz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ed using Adam optimizer and Cros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s-En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tropy Loss.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Monitored training loss and validation accuracy over epochs.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Early stopping applied to avoid overfitting.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Reached accuracy ~98.4% during the training process.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772" y="1581150"/>
            <a:ext cx="10848318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Model Training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13199" y="6986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45061" y="3015140"/>
            <a:ext cx="17394606" cy="6943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Objective: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Evaluate the trained model on unseen test ROIs.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Testing Process: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Used the reserved test dataset (30%) to evaluate how well the trained EfficientNet model generalizes to unseen defects.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Ran predictions on the test ROIs to compute overall accuracy.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Calculat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 class-wise precision, recall, and F1-score.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Performance Analysis: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Observ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ed class-wise metrics to identify strengths and areas for improvement.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Ch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ecked predictions against true labels to 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ns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ure reliable classification across all defect categories.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Outcome: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achieved ~96.9% overall accuracy.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Predictions matched well with true labels, with minimal false positives or negatives.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645" y="1382559"/>
            <a:ext cx="10848318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Model Testing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13199" y="6986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3772" y="3131058"/>
            <a:ext cx="17525895" cy="641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Objective: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Create an interactive and user-friendly interface for PCB defect detection.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UI: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 can upload PCB images and view results in real-time, with outputs annotat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 with bounding boxes and defect labels.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Provides an option to download processed images for documentation and future reference.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ign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ed for ease of use, allowing even no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n-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technical users to operate the system effortlessly.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Interactiv</a:t>
            </a: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 and Responsive Interface: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Uploaded images are processed and results are displayed promptly, allowing users to verify defects efficiently.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i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nterface is intuitive and user-friendly, ensuring smooth navigation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772" y="1523840"/>
            <a:ext cx="16365160" cy="163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76"/>
              </a:lnSpc>
            </a:pPr>
            <a:r>
              <a:rPr lang="en-US" sz="14400" spc="-936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Frontend Development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13199" y="6986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1053" y="3381397"/>
            <a:ext cx="17525895" cy="587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30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Objective: 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Automate preprocessing, ROI extraction, and defect classification.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Automatic Processing:</a:t>
            </a:r>
          </a:p>
          <a:p>
            <a:pPr algn="l" marL="647886" indent="-323943" lvl="1">
              <a:lnSpc>
                <a:spcPts val="4201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Uploaded PCB images are automatically compared against preloaded reference images in the backend.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Uploaded images are preprocessed to enhance features and reduce noise.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Contours are detected and ROIs are extract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 automatically.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Each ROI is classified using the trained EfficientNet-B4 model.</a:t>
            </a:r>
          </a:p>
          <a:p>
            <a:pPr algn="l">
              <a:lnSpc>
                <a:spcPts val="4201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Annotat</a:t>
            </a:r>
            <a:r>
              <a:rPr lang="en-US" b="true" sz="3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ed Output: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Results display bounding boxes and defect labels clearly.</a:t>
            </a:r>
          </a:p>
          <a:p>
            <a:pPr algn="l" marL="647886" indent="-323943" lvl="1">
              <a:lnSpc>
                <a:spcPts val="4201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system gene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rates annotated outputs for each uploaded image, allowing users to review detected defects clearly, even if processing takes a few seconds per image.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772" y="1476215"/>
            <a:ext cx="17974228" cy="1452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1"/>
              </a:lnSpc>
            </a:pPr>
            <a:r>
              <a:rPr lang="en-US" sz="12900" spc="-83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Backend Inference Pipeline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013199" y="698658"/>
            <a:ext cx="605181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CD3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301770" y="1450838"/>
            <a:ext cx="11684460" cy="8500627"/>
          </a:xfrm>
          <a:custGeom>
            <a:avLst/>
            <a:gdLst/>
            <a:ahLst/>
            <a:cxnLst/>
            <a:rect r="r" b="b" t="t" l="l"/>
            <a:pathLst>
              <a:path h="8500627" w="11684460">
                <a:moveTo>
                  <a:pt x="0" y="0"/>
                </a:moveTo>
                <a:lnTo>
                  <a:pt x="11684460" y="0"/>
                </a:lnTo>
                <a:lnTo>
                  <a:pt x="11684460" y="8500627"/>
                </a:lnTo>
                <a:lnTo>
                  <a:pt x="0" y="8500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309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738009" y="648198"/>
            <a:ext cx="1101659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185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993433" y="4555325"/>
            <a:ext cx="11587047" cy="2182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1"/>
              </a:lnSpc>
            </a:pPr>
            <a:r>
              <a:rPr lang="en-US" sz="19255" spc="-1251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Thank You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678933" y="391023"/>
            <a:ext cx="1160735" cy="116073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6810347" y="676773"/>
            <a:ext cx="1101659" cy="802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6999" spc="-454">
                <a:solidFill>
                  <a:srgbClr val="41B8D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DAG016Jo1XA</dc:identifier>
  <dcterms:modified xsi:type="dcterms:W3CDTF">2011-08-01T06:04:30Z</dcterms:modified>
  <cp:revision>1</cp:revision>
  <dc:title>Infosys Internship Presentation</dc:title>
</cp:coreProperties>
</file>