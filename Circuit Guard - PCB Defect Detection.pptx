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" charset="1" panose="00000500000000000000"/>
      <p:regular r:id="rId17"/>
    </p:embeddedFont>
    <p:embeddedFont>
      <p:font typeface="RoxboroughCF" charset="1" panose="00000500000000000000"/>
      <p:regular r:id="rId18"/>
    </p:embeddedFont>
    <p:embeddedFont>
      <p:font typeface="Montserrat Bold" charset="1" panose="00000800000000000000"/>
      <p:regular r:id="rId19"/>
    </p:embeddedFont>
    <p:embeddedFont>
      <p:font typeface="RoxboroughCF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VAG1TKu8QkU.mp4" Type="http://schemas.openxmlformats.org/officeDocument/2006/relationships/video"/><Relationship Id="rId4" Target="../media/VAG1TKu8QkU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2981" y="-228328"/>
            <a:ext cx="8845288" cy="4120430"/>
          </a:xfrm>
          <a:custGeom>
            <a:avLst/>
            <a:gdLst/>
            <a:ahLst/>
            <a:cxnLst/>
            <a:rect r="r" b="b" t="t" l="l"/>
            <a:pathLst>
              <a:path h="4120430" w="8845288">
                <a:moveTo>
                  <a:pt x="0" y="0"/>
                </a:moveTo>
                <a:lnTo>
                  <a:pt x="8845288" y="0"/>
                </a:lnTo>
                <a:lnTo>
                  <a:pt x="8845288" y="4120430"/>
                </a:lnTo>
                <a:lnTo>
                  <a:pt x="0" y="4120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978992"/>
            <a:ext cx="9741186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528">
                <a:solidFill>
                  <a:srgbClr val="5C3420"/>
                </a:solidFill>
                <a:latin typeface="Montserrat"/>
                <a:ea typeface="Montserrat"/>
                <a:cs typeface="Montserrat"/>
                <a:sym typeface="Montserrat"/>
              </a:rPr>
              <a:t>PC</a:t>
            </a:r>
            <a:r>
              <a:rPr lang="en-US" sz="3300" spc="528">
                <a:solidFill>
                  <a:srgbClr val="5C3420"/>
                </a:solidFill>
                <a:latin typeface="Montserrat"/>
                <a:ea typeface="Montserrat"/>
                <a:cs typeface="Montserrat"/>
                <a:sym typeface="Montserrat"/>
              </a:rPr>
              <a:t>B DEFECT DETECTION AND CLASSIFICATION APPLICATION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95850"/>
            <a:ext cx="12387037" cy="214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1"/>
              </a:lnSpc>
            </a:pPr>
            <a:r>
              <a:rPr lang="en-US" sz="12486" spc="-249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CircuitGuard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327349"/>
            <a:ext cx="9741186" cy="79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2"/>
              </a:lnSpc>
            </a:pPr>
            <a:r>
              <a:rPr lang="en-US" sz="4665" spc="746">
                <a:solidFill>
                  <a:srgbClr val="5C3420"/>
                </a:solidFill>
                <a:latin typeface="Montserrat"/>
                <a:ea typeface="Montserrat"/>
                <a:cs typeface="Montserrat"/>
                <a:sym typeface="Montserrat"/>
              </a:rPr>
              <a:t>BY AKASH PATEL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02928"/>
            <a:ext cx="12387037" cy="195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41"/>
              </a:lnSpc>
            </a:pPr>
            <a:r>
              <a:rPr lang="en-US" sz="11386" spc="-227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04453"/>
            <a:ext cx="9885248" cy="454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40" b="true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Problem:</a:t>
            </a:r>
          </a:p>
          <a:p>
            <a:pPr algn="l" marL="699574" indent="-349787" lvl="1">
              <a:lnSpc>
                <a:spcPts val="4536"/>
              </a:lnSpc>
              <a:buFont typeface="Arial"/>
              <a:buChar char="•"/>
            </a:pPr>
            <a:r>
              <a:rPr lang="en-US" sz="32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Manual PCB inspection is slow and error-prone</a:t>
            </a:r>
          </a:p>
          <a:p>
            <a:pPr algn="l" marL="699574" indent="-349787" lvl="1">
              <a:lnSpc>
                <a:spcPts val="4536"/>
              </a:lnSpc>
              <a:buFont typeface="Arial"/>
              <a:buChar char="•"/>
            </a:pPr>
            <a:r>
              <a:rPr lang="en-US" sz="32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Need for automated defect detection &amp; classification</a:t>
            </a:r>
          </a:p>
          <a:p>
            <a:pPr algn="l">
              <a:lnSpc>
                <a:spcPts val="4536"/>
              </a:lnSpc>
            </a:pPr>
          </a:p>
          <a:p>
            <a:pPr algn="l" marL="699574" indent="-349787" lvl="1">
              <a:lnSpc>
                <a:spcPts val="4536"/>
              </a:lnSpc>
              <a:buFont typeface="Arial"/>
              <a:buChar char="•"/>
            </a:pPr>
            <a:r>
              <a:rPr lang="en-US" b="true" sz="324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Objective:</a:t>
            </a:r>
            <a:r>
              <a:rPr lang="en-US" sz="32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Build a system to detect, classify, and visualize PCB defects efficiently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92981" y="-22832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0"/>
                </a:moveTo>
                <a:lnTo>
                  <a:pt x="4808451" y="0"/>
                </a:lnTo>
                <a:lnTo>
                  <a:pt x="4808451" y="2239937"/>
                </a:lnTo>
                <a:lnTo>
                  <a:pt x="0" y="223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0" y="870126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2239937"/>
                </a:moveTo>
                <a:lnTo>
                  <a:pt x="4808452" y="2239937"/>
                </a:lnTo>
                <a:lnTo>
                  <a:pt x="4808452" y="0"/>
                </a:lnTo>
                <a:lnTo>
                  <a:pt x="0" y="0"/>
                </a:lnTo>
                <a:lnTo>
                  <a:pt x="0" y="2239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83009"/>
            <a:ext cx="12387037" cy="195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41"/>
              </a:lnSpc>
            </a:pPr>
            <a:r>
              <a:rPr lang="en-US" sz="11386" spc="-227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Project Objectives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2981" y="-22832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0"/>
                </a:moveTo>
                <a:lnTo>
                  <a:pt x="4808451" y="0"/>
                </a:lnTo>
                <a:lnTo>
                  <a:pt x="4808451" y="2239937"/>
                </a:lnTo>
                <a:lnTo>
                  <a:pt x="0" y="223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870126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2239937"/>
                </a:moveTo>
                <a:lnTo>
                  <a:pt x="4808452" y="2239937"/>
                </a:lnTo>
                <a:lnTo>
                  <a:pt x="4808452" y="0"/>
                </a:lnTo>
                <a:lnTo>
                  <a:pt x="0" y="0"/>
                </a:lnTo>
                <a:lnTo>
                  <a:pt x="0" y="2239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69907"/>
            <a:ext cx="11314022" cy="349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Detect &amp; localize defects using image comparison</a:t>
            </a:r>
          </a:p>
          <a:p>
            <a:pPr algn="just">
              <a:lnSpc>
                <a:spcPts val="3976"/>
              </a:lnSpc>
            </a:pPr>
          </a:p>
          <a:p>
            <a:pPr algn="just" marL="591627" indent="-295813" lvl="1">
              <a:lnSpc>
                <a:spcPts val="3836"/>
              </a:lnSpc>
              <a:buFont typeface="Arial"/>
              <a:buChar char="•"/>
            </a:pPr>
            <a:r>
              <a:rPr lang="en-US" sz="27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Classify defects into categories using CNN (EfficientNet-B4)</a:t>
            </a:r>
          </a:p>
          <a:p>
            <a:pPr algn="just">
              <a:lnSpc>
                <a:spcPts val="3976"/>
              </a:lnSpc>
            </a:pPr>
          </a:p>
          <a:p>
            <a:pPr algn="just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Build web-based frontend for image upload &amp; visualization</a:t>
            </a:r>
          </a:p>
          <a:p>
            <a:pPr algn="just">
              <a:lnSpc>
                <a:spcPts val="3976"/>
              </a:lnSpc>
            </a:pPr>
          </a:p>
          <a:p>
            <a:pPr algn="just" marL="613216" indent="-306608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Export annotated outputs and logs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1619250"/>
            <a:ext cx="18288000" cy="866775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950481" y="-530567"/>
            <a:ext cx="12387037" cy="214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1"/>
              </a:lnSpc>
            </a:pPr>
            <a:r>
              <a:rPr lang="en-US" sz="12486" spc="-249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Demo Video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83009"/>
            <a:ext cx="12387037" cy="195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41"/>
              </a:lnSpc>
            </a:pPr>
            <a:r>
              <a:rPr lang="en-US" sz="11386" spc="-227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Methodology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2981" y="-22832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0"/>
                </a:moveTo>
                <a:lnTo>
                  <a:pt x="4808451" y="0"/>
                </a:lnTo>
                <a:lnTo>
                  <a:pt x="4808451" y="2239937"/>
                </a:lnTo>
                <a:lnTo>
                  <a:pt x="0" y="223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870126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2239937"/>
                </a:moveTo>
                <a:lnTo>
                  <a:pt x="4808452" y="2239937"/>
                </a:lnTo>
                <a:lnTo>
                  <a:pt x="4808452" y="0"/>
                </a:lnTo>
                <a:lnTo>
                  <a:pt x="0" y="0"/>
                </a:lnTo>
                <a:lnTo>
                  <a:pt x="0" y="2239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182361"/>
            <a:ext cx="11156451" cy="401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216" indent="-306608" lvl="1">
              <a:lnSpc>
                <a:spcPts val="3976"/>
              </a:lnSpc>
              <a:buAutoNum type="arabicPeriod" startAt="1"/>
            </a:pPr>
            <a:r>
              <a:rPr lang="en-US" b="true" sz="284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Preprocessing &amp; Subtraction</a:t>
            </a: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– Noise reduction, alignment, difference map</a:t>
            </a:r>
          </a:p>
          <a:p>
            <a:pPr algn="just" marL="613216" indent="-306608" lvl="1">
              <a:lnSpc>
                <a:spcPts val="3976"/>
              </a:lnSpc>
              <a:buAutoNum type="arabicPeriod" startAt="1"/>
            </a:pPr>
            <a:r>
              <a:rPr lang="en-US" b="true" sz="284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Contour Detection &amp; ROI Extraction</a:t>
            </a: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– Highlight defect areas</a:t>
            </a:r>
          </a:p>
          <a:p>
            <a:pPr algn="just" marL="613216" indent="-306608" lvl="1">
              <a:lnSpc>
                <a:spcPts val="3976"/>
              </a:lnSpc>
              <a:buAutoNum type="arabicPeriod" startAt="1"/>
            </a:pPr>
            <a:r>
              <a:rPr lang="en-US" b="true" sz="284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CNN Classification (EfficientNet)</a:t>
            </a: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– Train &amp; classify defect types</a:t>
            </a:r>
          </a:p>
          <a:p>
            <a:pPr algn="just" marL="613216" indent="-306608" lvl="1">
              <a:lnSpc>
                <a:spcPts val="3976"/>
              </a:lnSpc>
              <a:buAutoNum type="arabicPeriod" startAt="1"/>
            </a:pPr>
            <a:r>
              <a:rPr lang="en-US" b="true" sz="284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&amp; Backend Integration</a:t>
            </a: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– Upload images, get annotated outputs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92534"/>
            <a:ext cx="13278915" cy="1869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06"/>
              </a:lnSpc>
            </a:pPr>
            <a:r>
              <a:rPr lang="en-US" sz="10861" spc="-217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Image Preprocessing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2981" y="-22832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0"/>
                </a:moveTo>
                <a:lnTo>
                  <a:pt x="4808451" y="0"/>
                </a:lnTo>
                <a:lnTo>
                  <a:pt x="4808451" y="2239937"/>
                </a:lnTo>
                <a:lnTo>
                  <a:pt x="0" y="223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870126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2239937"/>
                </a:moveTo>
                <a:lnTo>
                  <a:pt x="4808452" y="2239937"/>
                </a:lnTo>
                <a:lnTo>
                  <a:pt x="4808452" y="0"/>
                </a:lnTo>
                <a:lnTo>
                  <a:pt x="0" y="0"/>
                </a:lnTo>
                <a:lnTo>
                  <a:pt x="0" y="2239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66662"/>
            <a:ext cx="9230656" cy="417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425" indent="-320713" lvl="1">
              <a:lnSpc>
                <a:spcPts val="4159"/>
              </a:lnSpc>
              <a:buFont typeface="Arial"/>
              <a:buChar char="•"/>
            </a:pPr>
            <a:r>
              <a:rPr lang="en-US" b="true" sz="297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Dataset:</a:t>
            </a:r>
            <a:r>
              <a:rPr lang="en-US" sz="297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DeepPCB (Template + Test images)</a:t>
            </a:r>
          </a:p>
          <a:p>
            <a:pPr algn="l">
              <a:lnSpc>
                <a:spcPts val="4159"/>
              </a:lnSpc>
            </a:pPr>
          </a:p>
          <a:p>
            <a:pPr algn="l" marL="641425" indent="-320713" lvl="1">
              <a:lnSpc>
                <a:spcPts val="4159"/>
              </a:lnSpc>
              <a:buFont typeface="Arial"/>
              <a:buChar char="•"/>
            </a:pPr>
            <a:r>
              <a:rPr lang="en-US" b="true" sz="297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Tasks: </a:t>
            </a:r>
            <a:r>
              <a:rPr lang="en-US" sz="297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Image alignment, subtraction, thresholding</a:t>
            </a:r>
          </a:p>
          <a:p>
            <a:pPr algn="l">
              <a:lnSpc>
                <a:spcPts val="4159"/>
              </a:lnSpc>
            </a:pPr>
          </a:p>
          <a:p>
            <a:pPr algn="l" marL="641425" indent="-320713" lvl="1">
              <a:lnSpc>
                <a:spcPts val="4159"/>
              </a:lnSpc>
              <a:buFont typeface="Arial"/>
              <a:buChar char="•"/>
            </a:pPr>
            <a:r>
              <a:rPr lang="en-US" b="true" sz="297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</a:t>
            </a:r>
            <a:r>
              <a:rPr lang="en-US" sz="297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Highlighted defect maps ready for training</a:t>
            </a:r>
          </a:p>
          <a:p>
            <a:pPr algn="just">
              <a:lnSpc>
                <a:spcPts val="41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38200"/>
            <a:ext cx="10909236" cy="349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39"/>
              </a:lnSpc>
            </a:pPr>
            <a:r>
              <a:rPr lang="en-US" sz="10028" spc="-200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Model Training &amp; Evaluation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2981" y="-22832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0"/>
                </a:moveTo>
                <a:lnTo>
                  <a:pt x="4808451" y="0"/>
                </a:lnTo>
                <a:lnTo>
                  <a:pt x="4808451" y="2239937"/>
                </a:lnTo>
                <a:lnTo>
                  <a:pt x="0" y="223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870126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2239937"/>
                </a:moveTo>
                <a:lnTo>
                  <a:pt x="4808452" y="2239937"/>
                </a:lnTo>
                <a:lnTo>
                  <a:pt x="4808452" y="0"/>
                </a:lnTo>
                <a:lnTo>
                  <a:pt x="0" y="0"/>
                </a:lnTo>
                <a:lnTo>
                  <a:pt x="0" y="2239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568664"/>
            <a:ext cx="8115300" cy="417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0" b="true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Training:</a:t>
            </a:r>
          </a:p>
          <a:p>
            <a:pPr algn="l" marL="641425" indent="-32071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Model: EfficientNet-B4 (PyTorch)</a:t>
            </a:r>
          </a:p>
          <a:p>
            <a:pPr algn="l" marL="641425" indent="-32071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Early stopping at epoch 9</a:t>
            </a:r>
          </a:p>
          <a:p>
            <a:pPr algn="l" marL="641425" indent="-32071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Final Accuracy: Train 99.16%, Val 98.69%</a:t>
            </a:r>
          </a:p>
          <a:p>
            <a:pPr algn="l">
              <a:lnSpc>
                <a:spcPts val="4159"/>
              </a:lnSpc>
            </a:pPr>
            <a:r>
              <a:rPr lang="en-US" sz="2970" b="true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Classification Report:</a:t>
            </a:r>
          </a:p>
          <a:p>
            <a:pPr algn="l" marL="641425" indent="-32071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Test Accuracy: 98%</a:t>
            </a:r>
          </a:p>
          <a:p>
            <a:pPr algn="l" marL="641425" indent="-32071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High precision &amp; recall across all defect classes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13172" y="4811335"/>
            <a:ext cx="3985975" cy="3985975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38200"/>
            <a:ext cx="11815762" cy="343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7"/>
              </a:lnSpc>
            </a:pPr>
            <a:r>
              <a:rPr lang="en-US" sz="9855" spc="-197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Frontend &amp; Backend</a:t>
            </a:r>
          </a:p>
          <a:p>
            <a:pPr algn="l">
              <a:lnSpc>
                <a:spcPts val="13797"/>
              </a:lnSpc>
            </a:pPr>
            <a:r>
              <a:rPr lang="en-US" sz="9855" spc="-197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Integration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869884"/>
            <a:ext cx="9885248" cy="371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395" indent="-328198" lvl="1">
              <a:lnSpc>
                <a:spcPts val="4256"/>
              </a:lnSpc>
              <a:buFont typeface="Arial"/>
              <a:buChar char="•"/>
            </a:pPr>
            <a:r>
              <a:rPr lang="en-US" b="true" sz="304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Frontend:</a:t>
            </a:r>
            <a:r>
              <a:rPr lang="en-US" sz="30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HTML/CSS – Upload &amp; display results</a:t>
            </a:r>
          </a:p>
          <a:p>
            <a:pPr algn="l" marL="656395" indent="-328198" lvl="1">
              <a:lnSpc>
                <a:spcPts val="4256"/>
              </a:lnSpc>
              <a:buFont typeface="Arial"/>
              <a:buChar char="•"/>
            </a:pPr>
            <a:r>
              <a:rPr lang="en-US" b="true" sz="304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Backend:</a:t>
            </a:r>
            <a:r>
              <a:rPr lang="en-US" sz="30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Modular inference pipeline with EfficientNet and Flask server</a:t>
            </a:r>
          </a:p>
          <a:p>
            <a:pPr algn="l">
              <a:lnSpc>
                <a:spcPts val="4256"/>
              </a:lnSpc>
            </a:pPr>
          </a:p>
          <a:p>
            <a:pPr algn="l" marL="656395" indent="-328198" lvl="1">
              <a:lnSpc>
                <a:spcPts val="4256"/>
              </a:lnSpc>
              <a:buFont typeface="Arial"/>
              <a:buChar char="•"/>
            </a:pPr>
            <a:r>
              <a:rPr lang="en-US" b="true" sz="3040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Features:</a:t>
            </a:r>
            <a:r>
              <a:rPr lang="en-US" sz="30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Real-time display, bounding boxes, labels, download annotated imag</a:t>
            </a:r>
          </a:p>
          <a:p>
            <a:pPr algn="l">
              <a:lnSpc>
                <a:spcPts val="425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92981" y="-22832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0"/>
                </a:moveTo>
                <a:lnTo>
                  <a:pt x="4808451" y="0"/>
                </a:lnTo>
                <a:lnTo>
                  <a:pt x="4808451" y="2239937"/>
                </a:lnTo>
                <a:lnTo>
                  <a:pt x="0" y="223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0" y="870126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2239937"/>
                </a:moveTo>
                <a:lnTo>
                  <a:pt x="4808452" y="2239937"/>
                </a:lnTo>
                <a:lnTo>
                  <a:pt x="4808452" y="0"/>
                </a:lnTo>
                <a:lnTo>
                  <a:pt x="0" y="0"/>
                </a:lnTo>
                <a:lnTo>
                  <a:pt x="0" y="2239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38200"/>
            <a:ext cx="12642114" cy="349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4"/>
              </a:lnSpc>
            </a:pPr>
            <a:r>
              <a:rPr lang="en-US" sz="10045" spc="-200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System Performance Overview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2981" y="-22832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0"/>
                </a:moveTo>
                <a:lnTo>
                  <a:pt x="4808451" y="0"/>
                </a:lnTo>
                <a:lnTo>
                  <a:pt x="4808451" y="2239937"/>
                </a:lnTo>
                <a:lnTo>
                  <a:pt x="0" y="223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870126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2239937"/>
                </a:moveTo>
                <a:lnTo>
                  <a:pt x="4808452" y="2239937"/>
                </a:lnTo>
                <a:lnTo>
                  <a:pt x="4808452" y="0"/>
                </a:lnTo>
                <a:lnTo>
                  <a:pt x="0" y="0"/>
                </a:lnTo>
                <a:lnTo>
                  <a:pt x="0" y="2239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4532936"/>
          <a:ext cx="11231947" cy="4168332"/>
        </p:xfrm>
        <a:graphic>
          <a:graphicData uri="http://schemas.openxmlformats.org/drawingml/2006/table">
            <a:tbl>
              <a:tblPr/>
              <a:tblGrid>
                <a:gridCol w="2367669"/>
                <a:gridCol w="5615074"/>
                <a:gridCol w="3249204"/>
              </a:tblGrid>
              <a:tr h="1042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0000"/>
                          </a:solidFill>
                          <a:latin typeface="RoxboroughCF Bold"/>
                          <a:ea typeface="RoxboroughCF Bold"/>
                          <a:cs typeface="RoxboroughCF Bold"/>
                          <a:sym typeface="RoxboroughCF Bold"/>
                        </a:rPr>
                        <a:t>Milestone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Matrix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M1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Mask quality &amp; bbox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xDetect all defects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M2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Accuracy &amp; confusion matrix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98%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M3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UI upload-to-output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oxboroughCF"/>
                          <a:ea typeface="RoxboroughCF"/>
                          <a:cs typeface="RoxboroughCF"/>
                          <a:sym typeface="RoxboroughCF"/>
                        </a:rPr>
                        <a:t>1.3 per image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64009"/>
            <a:ext cx="14052780" cy="171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82"/>
              </a:lnSpc>
            </a:pPr>
            <a:r>
              <a:rPr lang="en-US" sz="9987" spc="-199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Future Improvements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2981" y="-22832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0"/>
                </a:moveTo>
                <a:lnTo>
                  <a:pt x="4808451" y="0"/>
                </a:lnTo>
                <a:lnTo>
                  <a:pt x="4808451" y="2239937"/>
                </a:lnTo>
                <a:lnTo>
                  <a:pt x="0" y="223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8701268"/>
            <a:ext cx="4808452" cy="2239937"/>
          </a:xfrm>
          <a:custGeom>
            <a:avLst/>
            <a:gdLst/>
            <a:ahLst/>
            <a:cxnLst/>
            <a:rect r="r" b="b" t="t" l="l"/>
            <a:pathLst>
              <a:path h="2239937" w="4808452">
                <a:moveTo>
                  <a:pt x="0" y="2239937"/>
                </a:moveTo>
                <a:lnTo>
                  <a:pt x="4808452" y="2239937"/>
                </a:lnTo>
                <a:lnTo>
                  <a:pt x="4808452" y="0"/>
                </a:lnTo>
                <a:lnTo>
                  <a:pt x="0" y="0"/>
                </a:lnTo>
                <a:lnTo>
                  <a:pt x="0" y="223993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260785"/>
            <a:ext cx="11156451" cy="401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6"/>
              </a:lnSpc>
            </a:pP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en-US" sz="2840" b="true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PCB Scanning</a:t>
            </a: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– Integrate camera-based live inspection for faster defect detection.</a:t>
            </a:r>
          </a:p>
          <a:p>
            <a:pPr algn="just">
              <a:lnSpc>
                <a:spcPts val="3976"/>
              </a:lnSpc>
            </a:pP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2840" b="true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Mobile Application Support</a:t>
            </a: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– Enable defect detection on mobile devices for on-the-go use.</a:t>
            </a:r>
          </a:p>
          <a:p>
            <a:pPr algn="just">
              <a:lnSpc>
                <a:spcPts val="3976"/>
              </a:lnSpc>
            </a:pP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lang="en-US" sz="2840" b="true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Defect Classification</a:t>
            </a: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– Add more defect categories or use multi-label classification.</a:t>
            </a:r>
          </a:p>
          <a:p>
            <a:pPr algn="just">
              <a:lnSpc>
                <a:spcPts val="3976"/>
              </a:lnSpc>
            </a:pP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lang="en-US" sz="2840" b="true">
                <a:solidFill>
                  <a:srgbClr val="2C34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Pipeline Optimization</a:t>
            </a:r>
            <a:r>
              <a:rPr lang="en-US" sz="2840">
                <a:solidFill>
                  <a:srgbClr val="2C3423"/>
                </a:solidFill>
                <a:latin typeface="Montserrat"/>
                <a:ea typeface="Montserrat"/>
                <a:cs typeface="Montserrat"/>
                <a:sym typeface="Montserrat"/>
              </a:rPr>
              <a:t> – Reduce inference time, improve preprocessing and model speed.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44462" y="0"/>
            <a:ext cx="5443538" cy="10287000"/>
          </a:xfrm>
          <a:custGeom>
            <a:avLst/>
            <a:gdLst/>
            <a:ahLst/>
            <a:cxnLst/>
            <a:rect r="r" b="b" t="t" l="l"/>
            <a:pathLst>
              <a:path h="10287000" w="5443538">
                <a:moveTo>
                  <a:pt x="0" y="0"/>
                </a:moveTo>
                <a:lnTo>
                  <a:pt x="5443538" y="0"/>
                </a:lnTo>
                <a:lnTo>
                  <a:pt x="54435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2981" y="-228328"/>
            <a:ext cx="8845288" cy="4120430"/>
          </a:xfrm>
          <a:custGeom>
            <a:avLst/>
            <a:gdLst/>
            <a:ahLst/>
            <a:cxnLst/>
            <a:rect r="r" b="b" t="t" l="l"/>
            <a:pathLst>
              <a:path h="4120430" w="8845288">
                <a:moveTo>
                  <a:pt x="0" y="0"/>
                </a:moveTo>
                <a:lnTo>
                  <a:pt x="8845288" y="0"/>
                </a:lnTo>
                <a:lnTo>
                  <a:pt x="8845288" y="4120430"/>
                </a:lnTo>
                <a:lnTo>
                  <a:pt x="0" y="4120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895850"/>
            <a:ext cx="12387037" cy="214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81"/>
              </a:lnSpc>
            </a:pPr>
            <a:r>
              <a:rPr lang="en-US" sz="12486" spc="-249">
                <a:solidFill>
                  <a:srgbClr val="5C3420"/>
                </a:solidFill>
                <a:latin typeface="RoxboroughCF"/>
                <a:ea typeface="RoxboroughCF"/>
                <a:cs typeface="RoxboroughCF"/>
                <a:sym typeface="RoxboroughCF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DAG1Kq5fMns</dc:identifier>
  <dcterms:modified xsi:type="dcterms:W3CDTF">2011-08-01T06:04:30Z</dcterms:modified>
  <cp:revision>1</cp:revision>
  <dc:title>Circuit Guard - PCB Defect Detection</dc:title>
</cp:coreProperties>
</file>