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50" autoAdjust="0"/>
    <p:restoredTop sz="94660"/>
  </p:normalViewPr>
  <p:slideViewPr>
    <p:cSldViewPr snapToGrid="0">
      <p:cViewPr varScale="1">
        <p:scale>
          <a:sx n="74" d="100"/>
          <a:sy n="74" d="100"/>
        </p:scale>
        <p:origin x="92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B15E1-A0EC-F329-FDA5-BA3F2B5712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CircuitGuard</a:t>
            </a:r>
            <a:r>
              <a:rPr lang="en-US" dirty="0"/>
              <a:t>-PCB Defect Detection And Classification Application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833057-8C35-5ED2-0AA9-31BEA2BDD1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                                                  MENTOR   :  </a:t>
            </a:r>
            <a:r>
              <a:rPr lang="en-IN" dirty="0" err="1">
                <a:solidFill>
                  <a:schemeClr val="bg1">
                    <a:lumMod val="95000"/>
                  </a:schemeClr>
                </a:solidFill>
              </a:rPr>
              <a:t>pranaya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                                                  Presented by  : C SURYA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1145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7240-26D2-BB01-C246-124B728B6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Statement &amp;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8E140-1825-9E9D-6CAD-B1C4F367A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The objective is to develop an automated defect detection and classification system for </a:t>
            </a:r>
            <a:r>
              <a:rPr lang="en-US" b="1" dirty="0"/>
              <a:t>Printed</a:t>
            </a:r>
            <a:r>
              <a:rPr lang="en-US" dirty="0"/>
              <a:t> </a:t>
            </a:r>
            <a:r>
              <a:rPr lang="en-US" b="1" dirty="0"/>
              <a:t>Circuit</a:t>
            </a:r>
            <a:r>
              <a:rPr lang="en-US" dirty="0"/>
              <a:t> </a:t>
            </a:r>
            <a:r>
              <a:rPr lang="en-US" b="1" dirty="0"/>
              <a:t>Boards</a:t>
            </a:r>
            <a:r>
              <a:rPr lang="en-US" dirty="0"/>
              <a:t> (PCBs) using </a:t>
            </a:r>
            <a:r>
              <a:rPr lang="en-US" b="1" dirty="0"/>
              <a:t>image</a:t>
            </a:r>
            <a:r>
              <a:rPr lang="en-US" dirty="0"/>
              <a:t> </a:t>
            </a:r>
            <a:r>
              <a:rPr lang="en-US" b="1" dirty="0"/>
              <a:t>processing</a:t>
            </a:r>
            <a:r>
              <a:rPr lang="en-US" dirty="0"/>
              <a:t> and deep learning techniques. The system will employ reference-based image subtraction, contour extraction, and CNN-based classification to identify and label defects. A fully functional frontend web application will be developed to allow users to upload PCB images and receive labeled outputs highlighting defects. </a:t>
            </a:r>
          </a:p>
          <a:p>
            <a:pPr marL="0" indent="0">
              <a:buNone/>
            </a:pPr>
            <a:r>
              <a:rPr lang="en-US" dirty="0"/>
              <a:t>Detect and localize defects in PCB test images using comparison with defect-free templates. Classify detected defects into predefined categories using a trained CNN model. Train and evaluate </a:t>
            </a:r>
            <a:r>
              <a:rPr lang="en-US" b="1" dirty="0" err="1"/>
              <a:t>EfficientNet</a:t>
            </a:r>
            <a:r>
              <a:rPr lang="en-US" dirty="0"/>
              <a:t> model for robust classification. Build a web-based frontend for uploading images and viewing labeled outputs. Integrate a backend pipeline that processes input images and returns annotated results. Export annotated outputs and logs for documentation or analysis. </a:t>
            </a:r>
            <a:endParaRPr lang="en-IN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4FB2EEB-7382-382C-C511-3FA3CD1C0DBF}"/>
              </a:ext>
            </a:extLst>
          </p:cNvPr>
          <p:cNvSpPr/>
          <p:nvPr/>
        </p:nvSpPr>
        <p:spPr>
          <a:xfrm>
            <a:off x="240564" y="2603500"/>
            <a:ext cx="850372" cy="3953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D131898-60D2-96EA-2FBF-6C16443A4962}"/>
              </a:ext>
            </a:extLst>
          </p:cNvPr>
          <p:cNvSpPr/>
          <p:nvPr/>
        </p:nvSpPr>
        <p:spPr>
          <a:xfrm>
            <a:off x="208224" y="4360812"/>
            <a:ext cx="742662" cy="2753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749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546A-7984-89AB-C476-1C5B4EA9E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Subtraction &amp; Contour &amp; ROI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25A3D-DF09-9B3A-F1DA-06364EE74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Task:</a:t>
            </a:r>
            <a:r>
              <a:rPr lang="en-US" dirty="0"/>
              <a:t> We used </a:t>
            </a:r>
            <a:r>
              <a:rPr lang="en-US" b="1" dirty="0"/>
              <a:t>image subtraction</a:t>
            </a:r>
            <a:r>
              <a:rPr lang="en-US" dirty="0"/>
              <a:t> to compare a perfect "template" image against a "test" image. This created a "difference map" showing only the potential defects.</a:t>
            </a:r>
          </a:p>
          <a:p>
            <a:r>
              <a:rPr lang="en-US" b="1" dirty="0"/>
              <a:t>Key Technique:</a:t>
            </a:r>
            <a:r>
              <a:rPr lang="en-US" dirty="0"/>
              <a:t> We applied </a:t>
            </a:r>
            <a:r>
              <a:rPr lang="en-US" b="1" dirty="0"/>
              <a:t>Otsu's method</a:t>
            </a:r>
            <a:r>
              <a:rPr lang="en-US" dirty="0"/>
              <a:t> for thresholding to convert the difference map into a clean, black-and-white (binary) mask.</a:t>
            </a:r>
          </a:p>
          <a:p>
            <a:r>
              <a:rPr lang="en-US" b="1" dirty="0"/>
              <a:t>Outcome:</a:t>
            </a:r>
            <a:r>
              <a:rPr lang="en-US" dirty="0"/>
              <a:t> Successfully generated accurate masks that isolated potential defect areas.</a:t>
            </a:r>
          </a:p>
          <a:p>
            <a:r>
              <a:rPr lang="en-US" b="1" dirty="0"/>
              <a:t> ROI Extraction</a:t>
            </a:r>
            <a:endParaRPr lang="en-US" dirty="0"/>
          </a:p>
          <a:p>
            <a:r>
              <a:rPr lang="en-US" b="1" dirty="0"/>
              <a:t>Task:</a:t>
            </a:r>
            <a:r>
              <a:rPr lang="en-US" dirty="0"/>
              <a:t> Using OpenCV, we detected the </a:t>
            </a:r>
            <a:r>
              <a:rPr lang="en-US" b="1" dirty="0"/>
              <a:t>contours</a:t>
            </a:r>
            <a:r>
              <a:rPr lang="en-US" dirty="0"/>
              <a:t> of each highlighted area in the mask.</a:t>
            </a:r>
          </a:p>
          <a:p>
            <a:r>
              <a:rPr lang="en-US" b="1" dirty="0"/>
              <a:t>Key Technique:</a:t>
            </a:r>
            <a:r>
              <a:rPr lang="en-US" dirty="0"/>
              <a:t> We drew </a:t>
            </a:r>
            <a:r>
              <a:rPr lang="en-US" b="1" dirty="0"/>
              <a:t>bounding boxes</a:t>
            </a:r>
            <a:r>
              <a:rPr lang="en-US" dirty="0"/>
              <a:t> around each contour to crop out small, individual images of each defect.</a:t>
            </a:r>
          </a:p>
          <a:p>
            <a:r>
              <a:rPr lang="en-US" b="1" dirty="0"/>
              <a:t>Outcome:</a:t>
            </a:r>
            <a:r>
              <a:rPr lang="en-US" dirty="0"/>
              <a:t> Created a clean, labeled dataset of defect </a:t>
            </a:r>
            <a:r>
              <a:rPr lang="en-US" b="1" dirty="0"/>
              <a:t>Regions of Interest (ROIs)</a:t>
            </a:r>
            <a:r>
              <a:rPr lang="en-US" dirty="0"/>
              <a:t>, ready for AI training.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1130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50A66-E6BB-9027-88F7-F3BD7DE89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Training &amp;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B6385-D5F0-65CE-740C-D35112FA3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4081780"/>
          </a:xfrm>
        </p:spPr>
        <p:txBody>
          <a:bodyPr>
            <a:normAutofit/>
          </a:bodyPr>
          <a:lstStyle/>
          <a:p>
            <a:r>
              <a:rPr lang="en-US" b="1" dirty="0"/>
              <a:t>Training Phase:</a:t>
            </a:r>
            <a:r>
              <a:rPr lang="en-US" dirty="0"/>
              <a:t> In each </a:t>
            </a:r>
            <a:r>
              <a:rPr lang="en-US" b="1" dirty="0"/>
              <a:t>epoch</a:t>
            </a:r>
            <a:r>
              <a:rPr lang="en-US" dirty="0"/>
              <a:t>, the model is shown the augmented training images. It makes predictions, calculates its error (loss), and the </a:t>
            </a:r>
            <a:r>
              <a:rPr lang="en-US" b="1" dirty="0"/>
              <a:t>Adam optimizer</a:t>
            </a:r>
            <a:r>
              <a:rPr lang="en-US" dirty="0"/>
              <a:t> adjusts its parameters to improve..</a:t>
            </a:r>
          </a:p>
          <a:p>
            <a:r>
              <a:rPr lang="en-US" b="1" dirty="0" err="1"/>
              <a:t>Implementaton</a:t>
            </a:r>
            <a:r>
              <a:rPr lang="en-US" b="1" dirty="0"/>
              <a:t> Details:</a:t>
            </a:r>
          </a:p>
          <a:p>
            <a:r>
              <a:rPr lang="en-US" b="1" dirty="0"/>
              <a:t>Framework: </a:t>
            </a:r>
            <a:r>
              <a:rPr lang="en-US" dirty="0" err="1"/>
              <a:t>PyTorch+timm</a:t>
            </a:r>
            <a:r>
              <a:rPr lang="en-US" dirty="0"/>
              <a:t> for model management</a:t>
            </a:r>
          </a:p>
          <a:p>
            <a:r>
              <a:rPr lang="en-US" b="1" dirty="0"/>
              <a:t>Architecture: </a:t>
            </a:r>
            <a:r>
              <a:rPr lang="en-US" dirty="0"/>
              <a:t>EfficientNet-B4 renowned for </a:t>
            </a:r>
            <a:r>
              <a:rPr lang="en-US" dirty="0" err="1"/>
              <a:t>efficieny</a:t>
            </a:r>
            <a:r>
              <a:rPr lang="en-US" dirty="0"/>
              <a:t> and performance.</a:t>
            </a:r>
          </a:p>
          <a:p>
            <a:r>
              <a:rPr lang="en-US" b="1" dirty="0" err="1"/>
              <a:t>Optimise</a:t>
            </a:r>
            <a:r>
              <a:rPr lang="en-US" dirty="0" err="1"/>
              <a:t>r</a:t>
            </a:r>
            <a:r>
              <a:rPr lang="en-US" dirty="0"/>
              <a:t>: </a:t>
            </a:r>
            <a:r>
              <a:rPr lang="en-US" dirty="0" err="1"/>
              <a:t>Adam,selected</a:t>
            </a:r>
            <a:r>
              <a:rPr lang="en-US" dirty="0"/>
              <a:t> for its adaptive learning rate capabilities.</a:t>
            </a:r>
          </a:p>
          <a:p>
            <a:r>
              <a:rPr lang="en-US" b="1" dirty="0"/>
              <a:t>Smart Training Techniques:</a:t>
            </a:r>
            <a:endParaRPr lang="en-US" dirty="0"/>
          </a:p>
          <a:p>
            <a:r>
              <a:rPr lang="en-US" b="1" dirty="0"/>
              <a:t>Checkpointing:</a:t>
            </a:r>
            <a:r>
              <a:rPr lang="en-US" dirty="0"/>
              <a:t> The script only saves the model version that achieves the </a:t>
            </a:r>
            <a:r>
              <a:rPr lang="en-US" b="1" dirty="0"/>
              <a:t>best validation accuracy</a:t>
            </a:r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2138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3B53C-5D1B-8CE6-873C-ADD735A89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&amp;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F4CC1-B3D2-BBB8-A587-E472B7A62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Evaluation:</a:t>
            </a:r>
            <a:endParaRPr lang="en-US" dirty="0"/>
          </a:p>
          <a:p>
            <a:r>
              <a:rPr lang="en-US" b="1" dirty="0"/>
              <a:t>High Accuracy:</a:t>
            </a:r>
            <a:r>
              <a:rPr lang="en-US" dirty="0"/>
              <a:t> The model successfully achieved our goal of </a:t>
            </a:r>
            <a:r>
              <a:rPr lang="en-US" b="1" dirty="0"/>
              <a:t>≥ 95% classification accuracy</a:t>
            </a:r>
            <a:r>
              <a:rPr lang="en-US" dirty="0"/>
              <a:t>.</a:t>
            </a:r>
          </a:p>
          <a:p>
            <a:r>
              <a:rPr lang="en-US" b="1" dirty="0"/>
              <a:t>Detailed Reports:</a:t>
            </a:r>
            <a:r>
              <a:rPr lang="en-US" dirty="0"/>
              <a:t> The script automatically generates and saves:</a:t>
            </a:r>
          </a:p>
          <a:p>
            <a:pPr lvl="1"/>
            <a:r>
              <a:rPr lang="en-US" b="1" dirty="0"/>
              <a:t>Loss &amp; Accuracy Plots</a:t>
            </a:r>
            <a:r>
              <a:rPr lang="en-US" dirty="0"/>
              <a:t> to visualize the training progress.</a:t>
            </a:r>
          </a:p>
          <a:p>
            <a:pPr lvl="1"/>
            <a:r>
              <a:rPr lang="en-US" dirty="0"/>
              <a:t>A </a:t>
            </a:r>
            <a:r>
              <a:rPr lang="en-US" b="1" dirty="0" err="1"/>
              <a:t>training_history</a:t>
            </a:r>
            <a:r>
              <a:rPr lang="en-US" dirty="0"/>
              <a:t> of csv file obtained.</a:t>
            </a:r>
          </a:p>
          <a:p>
            <a:pPr lvl="1"/>
            <a:r>
              <a:rPr lang="en-US" b="1" dirty="0" err="1"/>
              <a:t>Best_checkpoint</a:t>
            </a:r>
            <a:r>
              <a:rPr lang="en-US" b="1" dirty="0"/>
              <a:t> </a:t>
            </a:r>
            <a:r>
              <a:rPr lang="en-US" dirty="0"/>
              <a:t>to predict testing phase.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Confusion Matrix</a:t>
            </a:r>
            <a:r>
              <a:rPr lang="en-US" dirty="0"/>
              <a:t> to visually analyze the model's prediction accuracy and any mistakes it made.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3505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432E4-3552-2862-2FF0-5A5E0B06E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Frontend &amp; Backend Integration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990D9-977B-5861-72D0-2901E8C81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Frontend Web UI:</a:t>
            </a:r>
            <a:endParaRPr lang="en-US" dirty="0"/>
          </a:p>
          <a:p>
            <a:r>
              <a:rPr lang="en-US" dirty="0"/>
              <a:t>We developed a clean and responsive web interface using </a:t>
            </a:r>
            <a:r>
              <a:rPr lang="en-US" b="1" dirty="0"/>
              <a:t>HTML</a:t>
            </a:r>
            <a:r>
              <a:rPr lang="en-US" dirty="0"/>
              <a:t> for structure, </a:t>
            </a:r>
            <a:r>
              <a:rPr lang="en-US" b="1" dirty="0"/>
              <a:t>CSS</a:t>
            </a:r>
            <a:r>
              <a:rPr lang="en-US" dirty="0"/>
              <a:t> for styling, and </a:t>
            </a:r>
            <a:r>
              <a:rPr lang="en-US" b="1" dirty="0"/>
              <a:t>JavaScript</a:t>
            </a:r>
            <a:r>
              <a:rPr lang="en-US" dirty="0"/>
              <a:t> for interactivity.</a:t>
            </a:r>
          </a:p>
          <a:p>
            <a:r>
              <a:rPr lang="en-US" dirty="0"/>
              <a:t>The UI allows users to easily upload images and view the final annotated results returned by the backend and included download option for annotated image.</a:t>
            </a:r>
          </a:p>
          <a:p>
            <a:r>
              <a:rPr lang="en-US" b="1" dirty="0"/>
              <a:t>Backend Pipeline:</a:t>
            </a:r>
            <a:endParaRPr lang="en-US" dirty="0"/>
          </a:p>
          <a:p>
            <a:r>
              <a:rPr lang="en-US" dirty="0"/>
              <a:t>We built the backend server using </a:t>
            </a:r>
            <a:r>
              <a:rPr lang="en-US" b="1" dirty="0"/>
              <a:t>Flask</a:t>
            </a:r>
            <a:r>
              <a:rPr lang="en-US" dirty="0"/>
              <a:t>, a lightweight and powerful Python web framework.</a:t>
            </a:r>
          </a:p>
          <a:p>
            <a:r>
              <a:rPr lang="en-US" dirty="0"/>
              <a:t>It exposes an API that receives the uploaded images, manages the full processing pipeline (image subtraction, ROI extraction, AI inference), and sends the final annotated image back to the frontend.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5909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5A944-20A8-45E2-039A-A76679C64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Observations &amp;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75D20-839F-8416-3C4D-5EEE23B53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High Accuracy</a:t>
            </a:r>
            <a:r>
              <a:rPr lang="en-US" dirty="0"/>
              <a:t>: We achieved </a:t>
            </a:r>
            <a:r>
              <a:rPr lang="en-US" b="1" dirty="0"/>
              <a:t>over 95% accuracy</a:t>
            </a:r>
            <a:r>
              <a:rPr lang="en-US" dirty="0"/>
              <a:t> in classifying six different types of PCB defects, ensuring reliable performance.</a:t>
            </a:r>
          </a:p>
          <a:p>
            <a:r>
              <a:rPr lang="en-IN" b="1" dirty="0"/>
              <a:t>End-to-End Automation</a:t>
            </a:r>
            <a:r>
              <a:rPr lang="en-IN" dirty="0"/>
              <a:t>:</a:t>
            </a:r>
            <a:r>
              <a:rPr lang="en-US" dirty="0"/>
              <a:t>We built a fully automated pipeline, from raw image input to a final, classified, and annotated output.</a:t>
            </a:r>
          </a:p>
          <a:p>
            <a:r>
              <a:rPr lang="en-IN" b="1" dirty="0"/>
              <a:t>User-Centric Design</a:t>
            </a:r>
            <a:r>
              <a:rPr lang="en-IN" dirty="0"/>
              <a:t>:</a:t>
            </a:r>
            <a:r>
              <a:rPr lang="en-US" dirty="0"/>
              <a:t>We delivered an accessible, responsive, and fast web application, allowing for easy interaction with our complex AI model.</a:t>
            </a:r>
          </a:p>
          <a:p>
            <a:r>
              <a:rPr lang="en-IN" b="1" dirty="0"/>
              <a:t>Challenging Defect Types</a:t>
            </a:r>
            <a:r>
              <a:rPr lang="en-IN" dirty="0"/>
              <a:t>:</a:t>
            </a:r>
            <a:r>
              <a:rPr lang="en-US" dirty="0"/>
              <a:t>Predictions for these defects may have lower confidence scores (e.g., </a:t>
            </a:r>
            <a:r>
              <a:rPr lang="en-US" b="1" dirty="0"/>
              <a:t>60-80%</a:t>
            </a:r>
            <a:r>
              <a:rPr lang="en-US" dirty="0"/>
              <a:t>).For “</a:t>
            </a:r>
            <a:r>
              <a:rPr lang="en-US" b="1" dirty="0"/>
              <a:t>Spur</a:t>
            </a:r>
            <a:r>
              <a:rPr lang="en-US" dirty="0"/>
              <a:t>" and “</a:t>
            </a:r>
            <a:r>
              <a:rPr lang="en-US" b="1" dirty="0"/>
              <a:t>Spurious</a:t>
            </a:r>
            <a:r>
              <a:rPr lang="en-US" dirty="0"/>
              <a:t> </a:t>
            </a:r>
            <a:r>
              <a:rPr lang="en-US" b="1" dirty="0"/>
              <a:t>copper</a:t>
            </a:r>
            <a:r>
              <a:rPr lang="en-US" dirty="0"/>
              <a:t>” misclassifications were observed due to  their potential ambiguities.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2869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291</TotalTime>
  <Words>687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 Boardroom</vt:lpstr>
      <vt:lpstr>CircuitGuard-PCB Defect Detection And Classification Application</vt:lpstr>
      <vt:lpstr>Project Statement &amp; Outcomes</vt:lpstr>
      <vt:lpstr>Image Subtraction &amp; Contour &amp; ROI</vt:lpstr>
      <vt:lpstr>Model Training &amp; Evaluation</vt:lpstr>
      <vt:lpstr>Evaluation &amp; Results</vt:lpstr>
      <vt:lpstr>Frontend &amp; Backend Integration</vt:lpstr>
      <vt:lpstr>Key Observations &amp;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 Chitterm</dc:creator>
  <cp:lastModifiedBy>Surya Chitterm</cp:lastModifiedBy>
  <cp:revision>2</cp:revision>
  <dcterms:created xsi:type="dcterms:W3CDTF">2025-10-07T13:09:36Z</dcterms:created>
  <dcterms:modified xsi:type="dcterms:W3CDTF">2025-10-09T13:49:14Z</dcterms:modified>
</cp:coreProperties>
</file>