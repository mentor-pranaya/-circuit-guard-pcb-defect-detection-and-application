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8"/>
  </p:notesMasterIdLst>
  <p:handoutMasterIdLst>
    <p:handoutMasterId r:id="rId19"/>
  </p:handoutMasterIdLst>
  <p:sldIdLst>
    <p:sldId id="328" r:id="rId5"/>
    <p:sldId id="333" r:id="rId6"/>
    <p:sldId id="304" r:id="rId7"/>
    <p:sldId id="330" r:id="rId8"/>
    <p:sldId id="281" r:id="rId9"/>
    <p:sldId id="282" r:id="rId10"/>
    <p:sldId id="336" r:id="rId11"/>
    <p:sldId id="331" r:id="rId12"/>
    <p:sldId id="326" r:id="rId13"/>
    <p:sldId id="334" r:id="rId14"/>
    <p:sldId id="318" r:id="rId15"/>
    <p:sldId id="325" r:id="rId16"/>
    <p:sldId id="323" r:id="rId17"/>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FADC-A7E4-3360-A1E7-D743D73C4075}"/>
              </a:ext>
            </a:extLst>
          </p:cNvPr>
          <p:cNvSpPr>
            <a:spLocks noGrp="1"/>
          </p:cNvSpPr>
          <p:nvPr>
            <p:ph type="ctrTitle"/>
          </p:nvPr>
        </p:nvSpPr>
        <p:spPr>
          <a:xfrm>
            <a:off x="265471" y="688257"/>
            <a:ext cx="8367252" cy="2861187"/>
          </a:xfrm>
        </p:spPr>
        <p:txBody>
          <a:bodyPr/>
          <a:lstStyle/>
          <a:p>
            <a:pPr algn="ctr">
              <a:lnSpc>
                <a:spcPct val="150000"/>
              </a:lnSpc>
            </a:pPr>
            <a:r>
              <a:rPr lang="en-US" dirty="0"/>
              <a:t>Circuit Guard-PCB Defect Detection and Classification Application</a:t>
            </a:r>
            <a:endParaRPr lang="en-IN" dirty="0"/>
          </a:p>
        </p:txBody>
      </p:sp>
      <p:sp>
        <p:nvSpPr>
          <p:cNvPr id="3" name="Subtitle 2">
            <a:extLst>
              <a:ext uri="{FF2B5EF4-FFF2-40B4-BE49-F238E27FC236}">
                <a16:creationId xmlns:a16="http://schemas.microsoft.com/office/drawing/2014/main" id="{876573EF-3B36-7710-2312-9EF30347BB46}"/>
              </a:ext>
            </a:extLst>
          </p:cNvPr>
          <p:cNvSpPr>
            <a:spLocks noGrp="1"/>
          </p:cNvSpPr>
          <p:nvPr>
            <p:ph type="subTitle" idx="1"/>
          </p:nvPr>
        </p:nvSpPr>
        <p:spPr>
          <a:xfrm>
            <a:off x="560439" y="4827638"/>
            <a:ext cx="6649065" cy="1189703"/>
          </a:xfrm>
        </p:spPr>
        <p:txBody>
          <a:bodyPr/>
          <a:lstStyle/>
          <a:p>
            <a:br>
              <a:rPr lang="en-IN" dirty="0">
                <a:solidFill>
                  <a:schemeClr val="accent1">
                    <a:lumMod val="50000"/>
                  </a:schemeClr>
                </a:solidFill>
              </a:rPr>
            </a:br>
            <a:r>
              <a:rPr lang="en-IN" dirty="0">
                <a:solidFill>
                  <a:schemeClr val="accent1">
                    <a:lumMod val="50000"/>
                  </a:schemeClr>
                </a:solidFill>
              </a:rPr>
              <a:t>Presented By: Mohammad </a:t>
            </a:r>
            <a:r>
              <a:rPr lang="en-IN" dirty="0" err="1">
                <a:solidFill>
                  <a:schemeClr val="accent1">
                    <a:lumMod val="50000"/>
                  </a:schemeClr>
                </a:solidFill>
              </a:rPr>
              <a:t>Nousheen</a:t>
            </a:r>
            <a:r>
              <a:rPr lang="en-IN" dirty="0">
                <a:solidFill>
                  <a:schemeClr val="accent1">
                    <a:lumMod val="50000"/>
                  </a:schemeClr>
                </a:solidFill>
              </a:rPr>
              <a:t> Tabassum</a:t>
            </a:r>
          </a:p>
        </p:txBody>
      </p:sp>
    </p:spTree>
    <p:extLst>
      <p:ext uri="{BB962C8B-B14F-4D97-AF65-F5344CB8AC3E}">
        <p14:creationId xmlns:p14="http://schemas.microsoft.com/office/powerpoint/2010/main" val="741213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FBFF4C-2DB3-E47E-74C0-C87D2D53BECD}"/>
              </a:ext>
            </a:extLst>
          </p:cNvPr>
          <p:cNvSpPr>
            <a:spLocks noGrp="1"/>
          </p:cNvSpPr>
          <p:nvPr>
            <p:ph type="sldNum" sz="quarter" idx="12"/>
          </p:nvPr>
        </p:nvSpPr>
        <p:spPr/>
        <p:txBody>
          <a:bodyPr/>
          <a:lstStyle/>
          <a:p>
            <a:fld id="{48F63A3B-78C7-47BE-AE5E-E10140E04643}" type="slidenum">
              <a:rPr lang="en-US" sz="2000" b="1" smtClean="0">
                <a:solidFill>
                  <a:srgbClr val="002060"/>
                </a:solidFill>
                <a:latin typeface="Arial Black (Headings)"/>
              </a:rPr>
              <a:pPr/>
              <a:t>2</a:t>
            </a:fld>
            <a:endParaRPr lang="en-US" sz="2000" b="1" dirty="0">
              <a:solidFill>
                <a:srgbClr val="002060"/>
              </a:solidFill>
              <a:latin typeface="Arial Black (Headings)"/>
            </a:endParaRPr>
          </a:p>
        </p:txBody>
      </p:sp>
      <p:sp>
        <p:nvSpPr>
          <p:cNvPr id="6" name="TextBox 5">
            <a:extLst>
              <a:ext uri="{FF2B5EF4-FFF2-40B4-BE49-F238E27FC236}">
                <a16:creationId xmlns:a16="http://schemas.microsoft.com/office/drawing/2014/main" id="{DD6F3E3A-D280-C6C9-7C43-0C6BAE72ABD7}"/>
              </a:ext>
            </a:extLst>
          </p:cNvPr>
          <p:cNvSpPr txBox="1"/>
          <p:nvPr/>
        </p:nvSpPr>
        <p:spPr>
          <a:xfrm>
            <a:off x="1160206" y="701702"/>
            <a:ext cx="9645446" cy="1668214"/>
          </a:xfrm>
          <a:prstGeom prst="rect">
            <a:avLst/>
          </a:prstGeom>
          <a:noFill/>
        </p:spPr>
        <p:txBody>
          <a:bodyPr wrap="square">
            <a:spAutoFit/>
          </a:bodyPr>
          <a:lstStyle/>
          <a:p>
            <a:pPr algn="ctr">
              <a:lnSpc>
                <a:spcPct val="150000"/>
              </a:lnSpc>
            </a:pPr>
            <a:r>
              <a:rPr lang="en-US" sz="3600" dirty="0">
                <a:solidFill>
                  <a:srgbClr val="002060"/>
                </a:solidFill>
                <a:latin typeface="Arial Black (Headings)"/>
              </a:rPr>
              <a:t>Circuit Guard-PCB Defect Detection and Classification Application</a:t>
            </a:r>
            <a:endParaRPr lang="en-IN" sz="3600" dirty="0">
              <a:solidFill>
                <a:srgbClr val="002060"/>
              </a:solidFill>
              <a:latin typeface="Arial Black (Headings)"/>
            </a:endParaRPr>
          </a:p>
        </p:txBody>
      </p:sp>
      <p:pic>
        <p:nvPicPr>
          <p:cNvPr id="4" name="Video 3">
            <a:hlinkClick r:id="" action="ppaction://media"/>
            <a:extLst>
              <a:ext uri="{FF2B5EF4-FFF2-40B4-BE49-F238E27FC236}">
                <a16:creationId xmlns:a16="http://schemas.microsoft.com/office/drawing/2014/main" id="{2D1D9F84-731B-CE99-F475-2A6A67C16FD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60177" y="3023829"/>
            <a:ext cx="9645446" cy="2787036"/>
          </a:xfrm>
          <a:prstGeom prst="rect">
            <a:avLst/>
          </a:prstGeom>
        </p:spPr>
      </p:pic>
    </p:spTree>
    <p:extLst>
      <p:ext uri="{BB962C8B-B14F-4D97-AF65-F5344CB8AC3E}">
        <p14:creationId xmlns:p14="http://schemas.microsoft.com/office/powerpoint/2010/main" val="1178415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00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1130710" y="707924"/>
            <a:ext cx="7561006" cy="1327354"/>
          </a:xfrm>
        </p:spPr>
        <p:txBody>
          <a:bodyPr/>
          <a:lstStyle/>
          <a:p>
            <a:pPr algn="ctr"/>
            <a:r>
              <a:rPr lang="en-US" sz="3600" b="1" dirty="0">
                <a:solidFill>
                  <a:srgbClr val="202C8F"/>
                </a:solidFill>
                <a:latin typeface="Arial Black (Headings)"/>
                <a:ea typeface="Inter Bold" pitchFamily="34" charset="-122"/>
                <a:cs typeface="Times New Roman" panose="02020603050405020304" pitchFamily="18" charset="0"/>
              </a:rPr>
              <a:t>Introduction</a:t>
            </a:r>
            <a:br>
              <a:rPr lang="en-US" sz="3600" dirty="0"/>
            </a:br>
            <a:endParaRPr lang="en-US" dirty="0"/>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385011" y="2390274"/>
            <a:ext cx="7267073" cy="3651710"/>
          </a:xfrm>
        </p:spPr>
        <p:txBody>
          <a:bodyPr>
            <a:normAutofit/>
          </a:bodyPr>
          <a:lstStyle/>
          <a:p>
            <a:r>
              <a:rPr lang="en-US" sz="2000" dirty="0">
                <a:solidFill>
                  <a:srgbClr val="272525"/>
                </a:solidFill>
                <a:latin typeface="Times New Roman" panose="02020603050405020304" pitchFamily="18" charset="0"/>
                <a:ea typeface="Inter" pitchFamily="34" charset="-122"/>
                <a:cs typeface="Times New Roman" panose="02020603050405020304" pitchFamily="18" charset="0"/>
              </a:rPr>
              <a:t>Printed Circuit Boards (PCBs) are the foundational components of modern electronics. Quality assurance is paramount, as defects can lead to critical system failures, costly recalls, and manufacturing downtime. The challenge lies in the sheer volume and complexity of high-density PCBs.</a:t>
            </a:r>
            <a:endParaRPr lang="en-US" sz="20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1729883" y="1"/>
            <a:ext cx="237527" cy="928688"/>
          </a:xfrm>
        </p:spPr>
        <p:txBody>
          <a:bodyPr/>
          <a:lstStyle/>
          <a:p>
            <a:fld id="{CAB23FC3-33A8-4646-BB8E-061E28A64149}" type="slidenum">
              <a:rPr lang="en-US" sz="1800"/>
              <a:t>3</a:t>
            </a:fld>
            <a:endParaRPr lang="en-US" sz="1800" dirty="0"/>
          </a:p>
        </p:txBody>
      </p:sp>
    </p:spTree>
    <p:extLst>
      <p:ext uri="{BB962C8B-B14F-4D97-AF65-F5344CB8AC3E}">
        <p14:creationId xmlns:p14="http://schemas.microsoft.com/office/powerpoint/2010/main" val="3913219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1BE2-1B54-5584-0AA9-87433989603E}"/>
              </a:ext>
            </a:extLst>
          </p:cNvPr>
          <p:cNvSpPr>
            <a:spLocks noGrp="1"/>
          </p:cNvSpPr>
          <p:nvPr>
            <p:ph type="title"/>
          </p:nvPr>
        </p:nvSpPr>
        <p:spPr>
          <a:xfrm>
            <a:off x="914400" y="766917"/>
            <a:ext cx="10511627" cy="698090"/>
          </a:xfrm>
        </p:spPr>
        <p:txBody>
          <a:bodyPr/>
          <a:lstStyle/>
          <a:p>
            <a:r>
              <a:rPr lang="en-US" dirty="0">
                <a:solidFill>
                  <a:srgbClr val="202C8F"/>
                </a:solidFill>
                <a:latin typeface="Arial Black (Headings)"/>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2A46469B-6788-5B61-2D00-8CE98B29664B}"/>
              </a:ext>
            </a:extLst>
          </p:cNvPr>
          <p:cNvSpPr>
            <a:spLocks noGrp="1"/>
          </p:cNvSpPr>
          <p:nvPr>
            <p:ph sz="quarter" idx="4"/>
          </p:nvPr>
        </p:nvSpPr>
        <p:spPr>
          <a:xfrm>
            <a:off x="560440" y="1858297"/>
            <a:ext cx="10865588" cy="4768645"/>
          </a:xfrm>
        </p:spPr>
        <p:txBody>
          <a:bodyPr>
            <a:normAutofit lnSpcReduction="10000"/>
          </a:bodyPr>
          <a:lstStyle/>
          <a:p>
            <a:pPr marL="0" indent="0">
              <a:lnSpc>
                <a:spcPct val="150000"/>
              </a:lnSpc>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Printed Circuit Board (PCB) quality control is critical for electronics reliability. Manual visual inspection is slow, inconsistent and error-prone as component density grows. The objective of AI-Circuit Guard is to automate PCB inspection using image-processing plus a deep-learning classifier to detect and classify common PCB defects (Missing-hole, Mouse-bite, Open-circuit, Short, Spur, Spurious-copper). The system must be robust to small misalignments, lighting variation and produce clear, human-readable annotated outputs and logs.</a:t>
            </a:r>
          </a:p>
          <a:p>
            <a:pPr>
              <a:lnSpc>
                <a:spcPct val="150000"/>
              </a:lnSpc>
              <a:buFont typeface="Arial" panose="020B0604020202020204" pitchFamily="34" charset="0"/>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Manual PCB inspection: slow, subjective, unreliable at scale</a:t>
            </a:r>
          </a:p>
          <a:p>
            <a:pPr>
              <a:lnSpc>
                <a:spcPct val="150000"/>
              </a:lnSpc>
              <a:buFont typeface="Arial" panose="020B0604020202020204" pitchFamily="34" charset="0"/>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Need: automated, repeatable inspection with high precision &amp; recall</a:t>
            </a:r>
          </a:p>
          <a:p>
            <a:pPr>
              <a:lnSpc>
                <a:spcPct val="150000"/>
              </a:lnSpc>
              <a:buFont typeface="Arial" panose="020B0604020202020204" pitchFamily="34" charset="0"/>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Target defects: Missing-hole, Mouse-bite, Open-circuit, Short, Spur, Spurious-copper</a:t>
            </a:r>
          </a:p>
          <a:p>
            <a:pPr>
              <a:lnSpc>
                <a:spcPct val="150000"/>
              </a:lnSpc>
              <a:buFont typeface="Arial" panose="020B0604020202020204" pitchFamily="34" charset="0"/>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Deliverable: web UI for uploading images + backend pipeline that outputs annotated images, ROI crops, CSV logs</a:t>
            </a:r>
          </a:p>
          <a:p>
            <a:endParaRPr lang="en-IN" dirty="0"/>
          </a:p>
        </p:txBody>
      </p:sp>
      <p:sp>
        <p:nvSpPr>
          <p:cNvPr id="4" name="Slide Number Placeholder 3">
            <a:extLst>
              <a:ext uri="{FF2B5EF4-FFF2-40B4-BE49-F238E27FC236}">
                <a16:creationId xmlns:a16="http://schemas.microsoft.com/office/drawing/2014/main" id="{603B21A9-4989-BC88-CE93-12F2FB8CC844}"/>
              </a:ext>
            </a:extLst>
          </p:cNvPr>
          <p:cNvSpPr>
            <a:spLocks noGrp="1"/>
          </p:cNvSpPr>
          <p:nvPr>
            <p:ph type="sldNum" sz="quarter" idx="10"/>
          </p:nvPr>
        </p:nvSpPr>
        <p:spPr/>
        <p:txBody>
          <a:bodyPr/>
          <a:lstStyle/>
          <a:p>
            <a:fld id="{48F63A3B-78C7-47BE-AE5E-E10140E04643}" type="slidenum">
              <a:rPr lang="en-US" sz="1800" smtClean="0"/>
              <a:pPr/>
              <a:t>4</a:t>
            </a:fld>
            <a:endParaRPr lang="en-US" sz="1800" dirty="0"/>
          </a:p>
        </p:txBody>
      </p:sp>
    </p:spTree>
    <p:extLst>
      <p:ext uri="{BB962C8B-B14F-4D97-AF65-F5344CB8AC3E}">
        <p14:creationId xmlns:p14="http://schemas.microsoft.com/office/powerpoint/2010/main" val="1402618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3746091" y="501445"/>
            <a:ext cx="4149212" cy="658701"/>
          </a:xfrm>
        </p:spPr>
        <p:txBody>
          <a:bodyPr/>
          <a:lstStyle/>
          <a:p>
            <a:pPr algn="ctr"/>
            <a:r>
              <a:rPr lang="en-US" dirty="0">
                <a:solidFill>
                  <a:srgbClr val="202C8F"/>
                </a:solidFill>
                <a:latin typeface="Arial Black (Headings)"/>
                <a:cs typeface="Times New Roman" panose="02020603050405020304" pitchFamily="18" charset="0"/>
              </a:rPr>
              <a:t>Objective</a:t>
            </a:r>
          </a:p>
        </p:txBody>
      </p:sp>
      <p:sp>
        <p:nvSpPr>
          <p:cNvPr id="5" name="Content Placeholder 4">
            <a:extLst>
              <a:ext uri="{FF2B5EF4-FFF2-40B4-BE49-F238E27FC236}">
                <a16:creationId xmlns:a16="http://schemas.microsoft.com/office/drawing/2014/main" id="{7F1D107B-CA93-1D40-7F27-5B41DB54283C}"/>
              </a:ext>
            </a:extLst>
          </p:cNvPr>
          <p:cNvSpPr>
            <a:spLocks noGrp="1"/>
          </p:cNvSpPr>
          <p:nvPr>
            <p:ph idx="1"/>
          </p:nvPr>
        </p:nvSpPr>
        <p:spPr>
          <a:xfrm>
            <a:off x="560439" y="1799303"/>
            <a:ext cx="11149780" cy="4906297"/>
          </a:xfrm>
        </p:spPr>
        <p:txBody>
          <a:bodyPr>
            <a:normAutofit fontScale="77500" lnSpcReduction="20000"/>
          </a:bodyPr>
          <a:lstStyle/>
          <a:p>
            <a:pPr>
              <a:lnSpc>
                <a:spcPct val="160000"/>
              </a:lnSpc>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Main Goal:</a:t>
            </a:r>
            <a:br>
              <a:rPr lang="en-IN" sz="2100" dirty="0">
                <a:solidFill>
                  <a:schemeClr val="tx1">
                    <a:lumMod val="95000"/>
                    <a:lumOff val="5000"/>
                  </a:schemeClr>
                </a:solidFill>
                <a:latin typeface="Times New Roman" panose="02020603050405020304" pitchFamily="18" charset="0"/>
                <a:cs typeface="Times New Roman" panose="02020603050405020304" pitchFamily="18" charset="0"/>
              </a:rPr>
            </a:br>
            <a:r>
              <a:rPr lang="en-IN" sz="2100" dirty="0">
                <a:solidFill>
                  <a:schemeClr val="tx1">
                    <a:lumMod val="95000"/>
                    <a:lumOff val="5000"/>
                  </a:schemeClr>
                </a:solidFill>
                <a:latin typeface="Times New Roman" panose="02020603050405020304" pitchFamily="18" charset="0"/>
                <a:cs typeface="Times New Roman" panose="02020603050405020304" pitchFamily="18" charset="0"/>
              </a:rPr>
              <a:t>To design and deploy AI Circuit Guard — an automated PCB defect detection and classification system using deep learning and computer vision.</a:t>
            </a:r>
          </a:p>
          <a:p>
            <a:pPr>
              <a:lnSpc>
                <a:spcPct val="160000"/>
              </a:lnSpc>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Specific Objectives:</a:t>
            </a:r>
          </a:p>
          <a:p>
            <a:pPr marL="342900" indent="-342900">
              <a:lnSpc>
                <a:spcPct val="160000"/>
              </a:lnSpc>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Accurate Defect Classification: </a:t>
            </a:r>
            <a:r>
              <a:rPr lang="en-IN" sz="2100" dirty="0">
                <a:solidFill>
                  <a:schemeClr val="tx1">
                    <a:lumMod val="95000"/>
                    <a:lumOff val="5000"/>
                  </a:schemeClr>
                </a:solidFill>
                <a:latin typeface="Times New Roman" panose="02020603050405020304" pitchFamily="18" charset="0"/>
                <a:cs typeface="Times New Roman" panose="02020603050405020304" pitchFamily="18" charset="0"/>
              </a:rPr>
              <a:t>Detect and classify common PCB defects such as Missing Hole, Mouse Bite, Open Circuit, Short, Spur, and Spurious Copper with high precision.</a:t>
            </a:r>
          </a:p>
          <a:p>
            <a:pPr marL="342900" indent="-342900">
              <a:lnSpc>
                <a:spcPct val="160000"/>
              </a:lnSpc>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Efficient Model Development: </a:t>
            </a:r>
            <a:r>
              <a:rPr lang="en-IN" sz="2100" dirty="0">
                <a:solidFill>
                  <a:schemeClr val="tx1">
                    <a:lumMod val="95000"/>
                    <a:lumOff val="5000"/>
                  </a:schemeClr>
                </a:solidFill>
                <a:latin typeface="Times New Roman" panose="02020603050405020304" pitchFamily="18" charset="0"/>
                <a:cs typeface="Times New Roman" panose="02020603050405020304" pitchFamily="18" charset="0"/>
              </a:rPr>
              <a:t>Train and fine-tune an EfficientNet-B4 model for optimized inference speed and accuracy.</a:t>
            </a:r>
          </a:p>
          <a:p>
            <a:pPr marL="342900" indent="-342900">
              <a:lnSpc>
                <a:spcPct val="160000"/>
              </a:lnSpc>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Modular Backend Infrastructure: </a:t>
            </a:r>
            <a:r>
              <a:rPr lang="en-IN" sz="2100" dirty="0">
                <a:solidFill>
                  <a:schemeClr val="tx1">
                    <a:lumMod val="95000"/>
                    <a:lumOff val="5000"/>
                  </a:schemeClr>
                </a:solidFill>
                <a:latin typeface="Times New Roman" panose="02020603050405020304" pitchFamily="18" charset="0"/>
                <a:cs typeface="Times New Roman" panose="02020603050405020304" pitchFamily="18" charset="0"/>
              </a:rPr>
              <a:t>Build a modular Python-based backend integrating OpenCV for preprocessing and PY-Torch for inference.</a:t>
            </a:r>
          </a:p>
          <a:p>
            <a:pPr marL="342900" indent="-342900">
              <a:lnSpc>
                <a:spcPct val="160000"/>
              </a:lnSpc>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Automated Image Processing: </a:t>
            </a:r>
            <a:r>
              <a:rPr lang="en-IN" sz="2100" dirty="0">
                <a:solidFill>
                  <a:schemeClr val="tx1">
                    <a:lumMod val="95000"/>
                    <a:lumOff val="5000"/>
                  </a:schemeClr>
                </a:solidFill>
                <a:latin typeface="Times New Roman" panose="02020603050405020304" pitchFamily="18" charset="0"/>
                <a:cs typeface="Times New Roman" panose="02020603050405020304" pitchFamily="18" charset="0"/>
              </a:rPr>
              <a:t>Perform subtraction, contour extraction, ROI detection, and morphological filtering for defect localization.</a:t>
            </a:r>
          </a:p>
          <a:p>
            <a:pPr marL="342900" indent="-342900">
              <a:lnSpc>
                <a:spcPct val="160000"/>
              </a:lnSpc>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Interactive Web Application: </a:t>
            </a:r>
            <a:r>
              <a:rPr lang="en-IN" sz="2100" dirty="0">
                <a:solidFill>
                  <a:schemeClr val="tx1">
                    <a:lumMod val="95000"/>
                    <a:lumOff val="5000"/>
                  </a:schemeClr>
                </a:solidFill>
                <a:latin typeface="Times New Roman" panose="02020603050405020304" pitchFamily="18" charset="0"/>
                <a:cs typeface="Times New Roman" panose="02020603050405020304" pitchFamily="18" charset="0"/>
              </a:rPr>
              <a:t>Develop a Stream-lit - based frontend allowing users to upload PCB images, visualize annotations, and download </a:t>
            </a:r>
            <a:r>
              <a:rPr lang="en-IN" sz="2100" dirty="0" err="1">
                <a:solidFill>
                  <a:schemeClr val="tx1">
                    <a:lumMod val="95000"/>
                    <a:lumOff val="5000"/>
                  </a:schemeClr>
                </a:solidFill>
                <a:latin typeface="Times New Roman" panose="02020603050405020304" pitchFamily="18" charset="0"/>
                <a:cs typeface="Times New Roman" panose="02020603050405020304" pitchFamily="18" charset="0"/>
              </a:rPr>
              <a:t>labeled</a:t>
            </a:r>
            <a:r>
              <a:rPr lang="en-IN" sz="2100" dirty="0">
                <a:solidFill>
                  <a:schemeClr val="tx1">
                    <a:lumMod val="95000"/>
                    <a:lumOff val="5000"/>
                  </a:schemeClr>
                </a:solidFill>
                <a:latin typeface="Times New Roman" panose="02020603050405020304" pitchFamily="18" charset="0"/>
                <a:cs typeface="Times New Roman" panose="02020603050405020304" pitchFamily="18" charset="0"/>
              </a:rPr>
              <a:t> results.</a:t>
            </a:r>
          </a:p>
          <a:p>
            <a:pPr marL="342900" indent="-342900">
              <a:lnSpc>
                <a:spcPct val="160000"/>
              </a:lnSpc>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Performance Evaluation: </a:t>
            </a:r>
            <a:r>
              <a:rPr lang="en-IN" sz="2100" dirty="0">
                <a:solidFill>
                  <a:schemeClr val="tx1">
                    <a:lumMod val="95000"/>
                    <a:lumOff val="5000"/>
                  </a:schemeClr>
                </a:solidFill>
                <a:latin typeface="Times New Roman" panose="02020603050405020304" pitchFamily="18" charset="0"/>
                <a:cs typeface="Times New Roman" panose="02020603050405020304" pitchFamily="18" charset="0"/>
              </a:rPr>
              <a:t>Evaluate model performance using precision, recall, F1-score, and confusion matrices.</a:t>
            </a:r>
          </a:p>
          <a:p>
            <a:endParaRPr lang="en-IN" dirty="0"/>
          </a:p>
        </p:txBody>
      </p:sp>
    </p:spTree>
    <p:extLst>
      <p:ext uri="{BB962C8B-B14F-4D97-AF65-F5344CB8AC3E}">
        <p14:creationId xmlns:p14="http://schemas.microsoft.com/office/powerpoint/2010/main" val="295292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962400" y="216311"/>
            <a:ext cx="7236542" cy="1214285"/>
          </a:xfrm>
        </p:spPr>
        <p:txBody>
          <a:bodyPr/>
          <a:lstStyle/>
          <a:p>
            <a:pPr algn="ctr"/>
            <a:r>
              <a:rPr lang="en-US" dirty="0">
                <a:solidFill>
                  <a:srgbClr val="202C8F"/>
                </a:solidFill>
                <a:latin typeface="Arial Black (Headings)"/>
                <a:cs typeface="Times New Roman" panose="02020603050405020304" pitchFamily="18" charset="0"/>
              </a:rPr>
              <a:t>System Architecture</a:t>
            </a:r>
            <a:br>
              <a:rPr lang="en-US" sz="1000" b="0" dirty="0">
                <a:latin typeface="Times New Roman" panose="02020603050405020304" pitchFamily="18" charset="0"/>
                <a:cs typeface="Times New Roman" panose="02020603050405020304" pitchFamily="18" charset="0"/>
              </a:rPr>
            </a:br>
            <a:r>
              <a:rPr lang="en-US" sz="1000" b="0" dirty="0">
                <a:latin typeface="Times New Roman" panose="02020603050405020304" pitchFamily="18" charset="0"/>
                <a:cs typeface="Times New Roman" panose="02020603050405020304" pitchFamily="18" charset="0"/>
              </a:rPr>
              <a:t>.</a:t>
            </a:r>
            <a:br>
              <a:rPr lang="en-US" sz="1000" b="0" dirty="0">
                <a:latin typeface="Times New Roman" panose="02020603050405020304" pitchFamily="18" charset="0"/>
                <a:cs typeface="Times New Roman" panose="02020603050405020304" pitchFamily="18" charset="0"/>
              </a:rPr>
            </a:br>
            <a:endParaRPr lang="en-US" sz="1000" b="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605548" y="1750142"/>
            <a:ext cx="9301317" cy="4965290"/>
          </a:xfrm>
        </p:spPr>
        <p:txBody>
          <a:bodyPr>
            <a:noAutofit/>
          </a:bodyPr>
          <a:lstStyle/>
          <a:p>
            <a:pPr marL="0" indent="0">
              <a:lnSpc>
                <a:spcPct val="150000"/>
              </a:lnSpc>
              <a:buNone/>
            </a:pPr>
            <a:r>
              <a:rPr lang="en-US" b="0" dirty="0">
                <a:solidFill>
                  <a:schemeClr val="tx1">
                    <a:lumMod val="95000"/>
                    <a:lumOff val="5000"/>
                  </a:schemeClr>
                </a:solidFill>
                <a:latin typeface="Times New Roman" panose="02020603050405020304" pitchFamily="18" charset="0"/>
                <a:cs typeface="Times New Roman" panose="02020603050405020304" pitchFamily="18" charset="0"/>
              </a:rPr>
              <a:t>The system follows a modular AI pipeline consisting of both frontend and backend components:</a:t>
            </a:r>
            <a:br>
              <a:rPr lang="en-US" b="0" dirty="0">
                <a:solidFill>
                  <a:schemeClr val="tx1">
                    <a:lumMod val="95000"/>
                    <a:lumOff val="5000"/>
                  </a:schemeClr>
                </a:solidFill>
                <a:latin typeface="Times New Roman" panose="02020603050405020304" pitchFamily="18" charset="0"/>
                <a:cs typeface="Times New Roman" panose="02020603050405020304" pitchFamily="18" charset="0"/>
              </a:rPr>
            </a:br>
            <a:r>
              <a:rPr lang="en-US" b="1" dirty="0">
                <a:solidFill>
                  <a:schemeClr val="tx1">
                    <a:lumMod val="95000"/>
                    <a:lumOff val="5000"/>
                  </a:schemeClr>
                </a:solidFill>
                <a:latin typeface="Times New Roman" panose="02020603050405020304" pitchFamily="18" charset="0"/>
                <a:cs typeface="Times New Roman" panose="02020603050405020304" pitchFamily="18" charset="0"/>
              </a:rPr>
              <a:t>Frontend (UI Layer):</a:t>
            </a:r>
            <a:br>
              <a:rPr lang="en-US" b="0" dirty="0">
                <a:solidFill>
                  <a:schemeClr val="tx1">
                    <a:lumMod val="95000"/>
                    <a:lumOff val="5000"/>
                  </a:schemeClr>
                </a:solidFill>
                <a:latin typeface="Times New Roman" panose="02020603050405020304" pitchFamily="18" charset="0"/>
                <a:cs typeface="Times New Roman" panose="02020603050405020304" pitchFamily="18" charset="0"/>
              </a:rPr>
            </a:br>
            <a:r>
              <a:rPr lang="en-US" b="0" dirty="0">
                <a:solidFill>
                  <a:schemeClr val="tx1">
                    <a:lumMod val="95000"/>
                    <a:lumOff val="5000"/>
                  </a:schemeClr>
                </a:solidFill>
                <a:latin typeface="Times New Roman" panose="02020603050405020304" pitchFamily="18" charset="0"/>
                <a:cs typeface="Times New Roman" panose="02020603050405020304" pitchFamily="18" charset="0"/>
              </a:rPr>
              <a:t>Built using Stream-lit.</a:t>
            </a:r>
            <a:br>
              <a:rPr lang="en-US" b="0" dirty="0">
                <a:solidFill>
                  <a:schemeClr val="tx1">
                    <a:lumMod val="95000"/>
                    <a:lumOff val="5000"/>
                  </a:schemeClr>
                </a:solidFill>
                <a:latin typeface="Times New Roman" panose="02020603050405020304" pitchFamily="18" charset="0"/>
                <a:cs typeface="Times New Roman" panose="02020603050405020304" pitchFamily="18" charset="0"/>
              </a:rPr>
            </a:br>
            <a:r>
              <a:rPr lang="en-US" b="0" dirty="0">
                <a:solidFill>
                  <a:schemeClr val="tx1">
                    <a:lumMod val="95000"/>
                    <a:lumOff val="5000"/>
                  </a:schemeClr>
                </a:solidFill>
                <a:latin typeface="Times New Roman" panose="02020603050405020304" pitchFamily="18" charset="0"/>
                <a:cs typeface="Times New Roman" panose="02020603050405020304" pitchFamily="18" charset="0"/>
              </a:rPr>
              <a:t>Allows image uploads, parameter tuning (morph iterations, sensitivity), and displays annotated results.</a:t>
            </a:r>
            <a:br>
              <a:rPr lang="en-US" b="0" dirty="0">
                <a:solidFill>
                  <a:schemeClr val="tx1">
                    <a:lumMod val="95000"/>
                    <a:lumOff val="5000"/>
                  </a:schemeClr>
                </a:solidFill>
                <a:latin typeface="Times New Roman" panose="02020603050405020304" pitchFamily="18" charset="0"/>
                <a:cs typeface="Times New Roman" panose="02020603050405020304" pitchFamily="18" charset="0"/>
              </a:rPr>
            </a:br>
            <a:r>
              <a:rPr lang="en-US" b="1" dirty="0">
                <a:solidFill>
                  <a:schemeClr val="tx1">
                    <a:lumMod val="95000"/>
                    <a:lumOff val="5000"/>
                  </a:schemeClr>
                </a:solidFill>
                <a:latin typeface="Times New Roman" panose="02020603050405020304" pitchFamily="18" charset="0"/>
                <a:cs typeface="Times New Roman" panose="02020603050405020304" pitchFamily="18" charset="0"/>
              </a:rPr>
              <a:t>Backend (Processing Layer):</a:t>
            </a:r>
            <a:br>
              <a:rPr lang="en-US" b="0" dirty="0">
                <a:solidFill>
                  <a:schemeClr val="tx1">
                    <a:lumMod val="95000"/>
                    <a:lumOff val="5000"/>
                  </a:schemeClr>
                </a:solidFill>
                <a:latin typeface="Times New Roman" panose="02020603050405020304" pitchFamily="18" charset="0"/>
                <a:cs typeface="Times New Roman" panose="02020603050405020304" pitchFamily="18" charset="0"/>
              </a:rPr>
            </a:br>
            <a:r>
              <a:rPr lang="en-US" b="0" dirty="0">
                <a:solidFill>
                  <a:schemeClr val="tx1">
                    <a:lumMod val="95000"/>
                    <a:lumOff val="5000"/>
                  </a:schemeClr>
                </a:solidFill>
                <a:latin typeface="Times New Roman" panose="02020603050405020304" pitchFamily="18" charset="0"/>
                <a:cs typeface="Times New Roman" panose="02020603050405020304" pitchFamily="18" charset="0"/>
              </a:rPr>
              <a:t>Handles preprocessing, alignment, subtraction, and ROI extraction using OpenCV.</a:t>
            </a:r>
            <a:br>
              <a:rPr lang="en-US" b="0" dirty="0">
                <a:solidFill>
                  <a:schemeClr val="tx1">
                    <a:lumMod val="95000"/>
                    <a:lumOff val="5000"/>
                  </a:schemeClr>
                </a:solidFill>
                <a:latin typeface="Times New Roman" panose="02020603050405020304" pitchFamily="18" charset="0"/>
                <a:cs typeface="Times New Roman" panose="02020603050405020304" pitchFamily="18" charset="0"/>
              </a:rPr>
            </a:br>
            <a:r>
              <a:rPr lang="en-US" b="0" dirty="0">
                <a:solidFill>
                  <a:schemeClr val="tx1">
                    <a:lumMod val="95000"/>
                    <a:lumOff val="5000"/>
                  </a:schemeClr>
                </a:solidFill>
                <a:latin typeface="Times New Roman" panose="02020603050405020304" pitchFamily="18" charset="0"/>
                <a:cs typeface="Times New Roman" panose="02020603050405020304" pitchFamily="18" charset="0"/>
              </a:rPr>
              <a:t>Runs the EfficientNet-B4 model for classification.</a:t>
            </a:r>
            <a:br>
              <a:rPr lang="en-US" b="0" dirty="0">
                <a:solidFill>
                  <a:schemeClr val="tx1">
                    <a:lumMod val="95000"/>
                    <a:lumOff val="5000"/>
                  </a:schemeClr>
                </a:solidFill>
                <a:latin typeface="Times New Roman" panose="02020603050405020304" pitchFamily="18" charset="0"/>
                <a:cs typeface="Times New Roman" panose="02020603050405020304" pitchFamily="18" charset="0"/>
              </a:rPr>
            </a:br>
            <a:r>
              <a:rPr lang="en-US" b="1" dirty="0">
                <a:solidFill>
                  <a:schemeClr val="tx1">
                    <a:lumMod val="95000"/>
                    <a:lumOff val="5000"/>
                  </a:schemeClr>
                </a:solidFill>
                <a:latin typeface="Times New Roman" panose="02020603050405020304" pitchFamily="18" charset="0"/>
                <a:cs typeface="Times New Roman" panose="02020603050405020304" pitchFamily="18" charset="0"/>
              </a:rPr>
              <a:t>Model Training Layer:</a:t>
            </a:r>
            <a:br>
              <a:rPr lang="en-US" b="0" dirty="0">
                <a:solidFill>
                  <a:schemeClr val="tx1">
                    <a:lumMod val="95000"/>
                    <a:lumOff val="5000"/>
                  </a:schemeClr>
                </a:solidFill>
                <a:latin typeface="Times New Roman" panose="02020603050405020304" pitchFamily="18" charset="0"/>
                <a:cs typeface="Times New Roman" panose="02020603050405020304" pitchFamily="18" charset="0"/>
              </a:rPr>
            </a:br>
            <a:r>
              <a:rPr lang="en-US" b="0" dirty="0">
                <a:solidFill>
                  <a:schemeClr val="tx1">
                    <a:lumMod val="95000"/>
                    <a:lumOff val="5000"/>
                  </a:schemeClr>
                </a:solidFill>
                <a:latin typeface="Times New Roman" panose="02020603050405020304" pitchFamily="18" charset="0"/>
                <a:cs typeface="Times New Roman" panose="02020603050405020304" pitchFamily="18" charset="0"/>
              </a:rPr>
              <a:t>Uses PY-Torch to train on extracted ROIs with data augmentation.</a:t>
            </a:r>
            <a:br>
              <a:rPr lang="en-US" b="0" dirty="0">
                <a:solidFill>
                  <a:schemeClr val="tx1">
                    <a:lumMod val="95000"/>
                    <a:lumOff val="5000"/>
                  </a:schemeClr>
                </a:solidFill>
                <a:latin typeface="Times New Roman" panose="02020603050405020304" pitchFamily="18" charset="0"/>
                <a:cs typeface="Times New Roman" panose="02020603050405020304" pitchFamily="18" charset="0"/>
              </a:rPr>
            </a:br>
            <a:r>
              <a:rPr lang="en-US" b="1" dirty="0">
                <a:solidFill>
                  <a:schemeClr val="tx1">
                    <a:lumMod val="95000"/>
                    <a:lumOff val="5000"/>
                  </a:schemeClr>
                </a:solidFill>
                <a:latin typeface="Times New Roman" panose="02020603050405020304" pitchFamily="18" charset="0"/>
                <a:cs typeface="Times New Roman" panose="02020603050405020304" pitchFamily="18" charset="0"/>
              </a:rPr>
              <a:t>Storage/Output Layer:</a:t>
            </a:r>
            <a:br>
              <a:rPr lang="en-US" b="0" dirty="0">
                <a:solidFill>
                  <a:schemeClr val="tx1">
                    <a:lumMod val="95000"/>
                    <a:lumOff val="5000"/>
                  </a:schemeClr>
                </a:solidFill>
                <a:latin typeface="Times New Roman" panose="02020603050405020304" pitchFamily="18" charset="0"/>
                <a:cs typeface="Times New Roman" panose="02020603050405020304" pitchFamily="18" charset="0"/>
              </a:rPr>
            </a:br>
            <a:r>
              <a:rPr lang="en-US" b="0" dirty="0">
                <a:solidFill>
                  <a:schemeClr val="tx1">
                    <a:lumMod val="95000"/>
                    <a:lumOff val="5000"/>
                  </a:schemeClr>
                </a:solidFill>
                <a:latin typeface="Times New Roman" panose="02020603050405020304" pitchFamily="18" charset="0"/>
                <a:cs typeface="Times New Roman" panose="02020603050405020304" pitchFamily="18" charset="0"/>
              </a:rPr>
              <a:t>Saves predictions, logs, and annotated outputs to organized folders</a:t>
            </a:r>
            <a:endParaRPr lang="en-US" dirty="0">
              <a:solidFill>
                <a:schemeClr val="tx1">
                  <a:lumMod val="95000"/>
                  <a:lumOff val="5000"/>
                </a:schemeClr>
              </a:solidFill>
            </a:endParaRP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1611897" y="216311"/>
            <a:ext cx="471948" cy="245805"/>
          </a:xfrm>
        </p:spPr>
        <p:txBody>
          <a:bodyPr/>
          <a:lstStyle/>
          <a:p>
            <a:r>
              <a:rPr lang="en-US" sz="1800" dirty="0"/>
              <a:t>5</a:t>
            </a:r>
          </a:p>
        </p:txBody>
      </p:sp>
    </p:spTree>
    <p:extLst>
      <p:ext uri="{BB962C8B-B14F-4D97-AF65-F5344CB8AC3E}">
        <p14:creationId xmlns:p14="http://schemas.microsoft.com/office/powerpoint/2010/main" val="68568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BFC32-0147-60FE-8F79-745BBBACE0A0}"/>
              </a:ext>
            </a:extLst>
          </p:cNvPr>
          <p:cNvSpPr>
            <a:spLocks noGrp="1"/>
          </p:cNvSpPr>
          <p:nvPr>
            <p:ph type="title"/>
          </p:nvPr>
        </p:nvSpPr>
        <p:spPr>
          <a:xfrm>
            <a:off x="3259598" y="195861"/>
            <a:ext cx="7965461" cy="994164"/>
          </a:xfrm>
        </p:spPr>
        <p:txBody>
          <a:bodyPr/>
          <a:lstStyle/>
          <a:p>
            <a:pPr algn="ctr"/>
            <a:r>
              <a:rPr lang="en-US" dirty="0">
                <a:solidFill>
                  <a:srgbClr val="202C8F"/>
                </a:solidFill>
                <a:latin typeface="Arial Black (Headings)"/>
                <a:cs typeface="Times New Roman" panose="02020603050405020304" pitchFamily="18" charset="0"/>
              </a:rPr>
              <a:t>methodology</a:t>
            </a:r>
            <a:endParaRPr lang="en-IN" dirty="0"/>
          </a:p>
        </p:txBody>
      </p:sp>
      <p:sp>
        <p:nvSpPr>
          <p:cNvPr id="4" name="Slide Number Placeholder 3">
            <a:extLst>
              <a:ext uri="{FF2B5EF4-FFF2-40B4-BE49-F238E27FC236}">
                <a16:creationId xmlns:a16="http://schemas.microsoft.com/office/drawing/2014/main" id="{1B8E6A28-7842-88A0-E275-597BC0A2BD12}"/>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
        <p:nvSpPr>
          <p:cNvPr id="5" name="Rectangle 1">
            <a:extLst>
              <a:ext uri="{FF2B5EF4-FFF2-40B4-BE49-F238E27FC236}">
                <a16:creationId xmlns:a16="http://schemas.microsoft.com/office/drawing/2014/main" id="{90A82F4A-20C5-36B0-EDF7-06658598A872}"/>
              </a:ext>
            </a:extLst>
          </p:cNvPr>
          <p:cNvSpPr>
            <a:spLocks noGrp="1" noChangeArrowheads="1"/>
          </p:cNvSpPr>
          <p:nvPr>
            <p:ph sz="half" idx="2"/>
          </p:nvPr>
        </p:nvSpPr>
        <p:spPr bwMode="auto">
          <a:xfrm>
            <a:off x="2552281" y="720409"/>
            <a:ext cx="9157938" cy="5937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The pipeline is modular: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Preprocessing</a:t>
            </a: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 </a:t>
            </a:r>
            <a:r>
              <a:rPr kumimoji="0" lang="en-US" altLang="en-US" sz="180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alignment → subtraction &amp; mask generation → ROI extraction → classification → annotation &amp; logging.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Each stage is implemented as a separate function/module so the system is maintainable and easy to optimize.</a:t>
            </a:r>
          </a:p>
          <a:p>
            <a:pPr marL="0" marR="0" lvl="0" indent="0" algn="l" defTabSz="914400" rtl="0" eaLnBrk="0" fontAlgn="base" latinLnBrk="0" hangingPunct="0">
              <a:lnSpc>
                <a:spcPct val="160000"/>
              </a:lnSpc>
              <a:spcBef>
                <a:spcPct val="0"/>
              </a:spcBef>
              <a:spcAft>
                <a:spcPct val="0"/>
              </a:spcAft>
              <a:buClrTx/>
              <a:buSzTx/>
              <a:buFontTx/>
              <a:buNone/>
              <a:tabLst/>
            </a:pPr>
            <a:r>
              <a:rPr kumimoji="0" lang="en-US" altLang="en-US" sz="18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Step-by-step pipeline (numbered)</a:t>
            </a:r>
          </a:p>
          <a:p>
            <a:pPr eaLnBrk="0" fontAlgn="base" hangingPunct="0">
              <a:lnSpc>
                <a:spcPct val="160000"/>
              </a:lnSpc>
              <a:spcBef>
                <a:spcPct val="0"/>
              </a:spcBef>
              <a:spcAft>
                <a:spcPct val="0"/>
              </a:spcAft>
              <a:buFont typeface="Wingdings" panose="05000000000000000000" pitchFamily="2" charset="2"/>
              <a:buChar char="§"/>
            </a:pP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pairing : </a:t>
            </a:r>
            <a:r>
              <a:rPr kumimoji="0" lang="en-US" altLang="en-US" sz="18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template/test pairs (template: defect-free image; test: defective image).</a:t>
            </a:r>
          </a:p>
          <a:p>
            <a:pPr eaLnBrk="0" fontAlgn="base" hangingPunct="0">
              <a:lnSpc>
                <a:spcPct val="160000"/>
              </a:lnSpc>
              <a:spcBef>
                <a:spcPct val="0"/>
              </a:spcBef>
              <a:spcAft>
                <a:spcPct val="0"/>
              </a:spcAft>
              <a:buFont typeface="Wingdings" panose="05000000000000000000" pitchFamily="2" charset="2"/>
              <a:buChar char="§"/>
            </a:pP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Alignment : </a:t>
            </a:r>
            <a:r>
              <a:rPr kumimoji="0" lang="en-US" altLang="en-US" sz="18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align test to template (ORB + </a:t>
            </a:r>
            <a:r>
              <a:rPr kumimoji="0" lang="en-US" altLang="en-US" sz="18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homography</a:t>
            </a:r>
            <a:r>
              <a:rPr kumimoji="0" lang="en-US" altLang="en-US" sz="18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reduce pixel misregistration.</a:t>
            </a:r>
          </a:p>
          <a:p>
            <a:pPr eaLnBrk="0" fontAlgn="base" hangingPunct="0">
              <a:lnSpc>
                <a:spcPct val="160000"/>
              </a:lnSpc>
              <a:spcBef>
                <a:spcPct val="0"/>
              </a:spcBef>
              <a:spcAft>
                <a:spcPct val="0"/>
              </a:spcAft>
              <a:buFont typeface="Wingdings" panose="05000000000000000000" pitchFamily="2" charset="2"/>
              <a:buChar char="§"/>
            </a:pP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Difference &amp; mask : </a:t>
            </a:r>
            <a:r>
              <a:rPr kumimoji="0" lang="en-US" altLang="en-US" sz="18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grayscale subtraction + Gaussian blur + adaptive/Otsu threshold, optionally combined with edge-difference to highlight changes.</a:t>
            </a:r>
          </a:p>
          <a:p>
            <a:pPr eaLnBrk="0" fontAlgn="base" hangingPunct="0">
              <a:lnSpc>
                <a:spcPct val="150000"/>
              </a:lnSpc>
              <a:spcBef>
                <a:spcPct val="0"/>
              </a:spcBef>
              <a:spcAft>
                <a:spcPct val="0"/>
              </a:spcAft>
              <a:buFont typeface="Wingdings" panose="05000000000000000000" pitchFamily="2" charset="2"/>
              <a:buChar char="§"/>
            </a:pPr>
            <a:endParaRPr kumimoji="0" lang="en-US" altLang="en-US" sz="180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7673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43348-0F77-7F51-0B14-3121181355AE}"/>
              </a:ext>
            </a:extLst>
          </p:cNvPr>
          <p:cNvSpPr>
            <a:spLocks noGrp="1"/>
          </p:cNvSpPr>
          <p:nvPr>
            <p:ph type="title"/>
          </p:nvPr>
        </p:nvSpPr>
        <p:spPr>
          <a:xfrm>
            <a:off x="914400" y="255639"/>
            <a:ext cx="7843837" cy="673049"/>
          </a:xfrm>
        </p:spPr>
        <p:txBody>
          <a:bodyPr/>
          <a:lstStyle/>
          <a:p>
            <a:pPr algn="ctr"/>
            <a:r>
              <a:rPr lang="en-IN" dirty="0"/>
              <a:t>methodology</a:t>
            </a:r>
          </a:p>
        </p:txBody>
      </p:sp>
      <p:sp>
        <p:nvSpPr>
          <p:cNvPr id="3" name="Content Placeholder 2">
            <a:extLst>
              <a:ext uri="{FF2B5EF4-FFF2-40B4-BE49-F238E27FC236}">
                <a16:creationId xmlns:a16="http://schemas.microsoft.com/office/drawing/2014/main" id="{A9EA6C59-A77C-F96D-A6C6-AF155D41921C}"/>
              </a:ext>
            </a:extLst>
          </p:cNvPr>
          <p:cNvSpPr>
            <a:spLocks noGrp="1"/>
          </p:cNvSpPr>
          <p:nvPr>
            <p:ph idx="13"/>
          </p:nvPr>
        </p:nvSpPr>
        <p:spPr>
          <a:xfrm>
            <a:off x="383458" y="1602659"/>
            <a:ext cx="8150942" cy="4999702"/>
          </a:xfrm>
        </p:spPr>
        <p:txBody>
          <a:bodyPr>
            <a:normAutofit fontScale="62500" lnSpcReduction="20000"/>
          </a:bodyPr>
          <a:lstStyle/>
          <a:p>
            <a:pPr marL="457200" marR="0" lvl="0" indent="-457200" algn="l" defTabSz="914400" rtl="0" eaLnBrk="0" fontAlgn="base" latinLnBrk="0" hangingPunct="0">
              <a:lnSpc>
                <a:spcPct val="170000"/>
              </a:lnSpc>
              <a:spcBef>
                <a:spcPct val="0"/>
              </a:spcBef>
              <a:spcAft>
                <a:spcPct val="0"/>
              </a:spcAft>
              <a:buClrTx/>
              <a:buSzTx/>
              <a:buFont typeface="Wingdings" panose="05000000000000000000" pitchFamily="2" charset="2"/>
              <a:buChar char="§"/>
              <a:tabLst/>
            </a:pPr>
            <a:r>
              <a:rPr kumimoji="0" lang="en-US" altLang="en-US" sz="29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Morphology &amp; filtering :  </a:t>
            </a:r>
            <a:r>
              <a:rPr kumimoji="0" lang="en-US" altLang="en-US" sz="29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morphological open/close and connected-component filtering to remove small noise. Keep top-N blobs by area.</a:t>
            </a:r>
          </a:p>
          <a:p>
            <a:pPr marL="457200" marR="0" lvl="0" indent="-457200" algn="l" defTabSz="914400" rtl="0" eaLnBrk="0" fontAlgn="base" latinLnBrk="0" hangingPunct="0">
              <a:lnSpc>
                <a:spcPct val="170000"/>
              </a:lnSpc>
              <a:spcBef>
                <a:spcPct val="0"/>
              </a:spcBef>
              <a:spcAft>
                <a:spcPct val="0"/>
              </a:spcAft>
              <a:buClrTx/>
              <a:buSzTx/>
              <a:buFont typeface="Wingdings" panose="05000000000000000000" pitchFamily="2" charset="2"/>
              <a:buChar char="§"/>
              <a:tabLst/>
            </a:pPr>
            <a:r>
              <a:rPr kumimoji="0" lang="en-US" altLang="en-US" sz="29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ROI extraction : </a:t>
            </a:r>
            <a:r>
              <a:rPr kumimoji="0" lang="en-US" altLang="en-US" sz="29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crop bounding boxes for each defect blob and save to outputs_module6/rois.</a:t>
            </a:r>
          </a:p>
          <a:p>
            <a:pPr marL="457200" marR="0" lvl="0" indent="-457200" algn="l" defTabSz="914400" rtl="0" eaLnBrk="0" fontAlgn="base" latinLnBrk="0" hangingPunct="0">
              <a:lnSpc>
                <a:spcPct val="170000"/>
              </a:lnSpc>
              <a:spcBef>
                <a:spcPct val="0"/>
              </a:spcBef>
              <a:spcAft>
                <a:spcPct val="0"/>
              </a:spcAft>
              <a:buClrTx/>
              <a:buSzTx/>
              <a:buFont typeface="Wingdings" panose="05000000000000000000" pitchFamily="2" charset="2"/>
              <a:buChar char="§"/>
              <a:tabLst/>
            </a:pPr>
            <a:r>
              <a:rPr kumimoji="0" lang="en-US" altLang="en-US" sz="29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Classification : </a:t>
            </a:r>
            <a:r>
              <a:rPr kumimoji="0" lang="en-US" altLang="en-US" sz="29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EfficientNet-B4 predicts defect class and confidence for each ROI.</a:t>
            </a:r>
          </a:p>
          <a:p>
            <a:pPr marL="457200" marR="0" lvl="0" indent="-457200" algn="l" defTabSz="914400" rtl="0" eaLnBrk="0" fontAlgn="base" latinLnBrk="0" hangingPunct="0">
              <a:lnSpc>
                <a:spcPct val="170000"/>
              </a:lnSpc>
              <a:spcBef>
                <a:spcPct val="0"/>
              </a:spcBef>
              <a:spcAft>
                <a:spcPct val="0"/>
              </a:spcAft>
              <a:buClrTx/>
              <a:buSzTx/>
              <a:buFont typeface="Wingdings" panose="05000000000000000000" pitchFamily="2" charset="2"/>
              <a:buChar char="§"/>
              <a:tabLst/>
            </a:pPr>
            <a:r>
              <a:rPr kumimoji="0" lang="en-US" altLang="en-US" sz="29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Annotation &amp; logging : </a:t>
            </a:r>
            <a:r>
              <a:rPr kumimoji="0" lang="en-US" altLang="en-US" sz="29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draw labels on the test image, save annotated image, save CSV predictions and append a run log (timestamp, template/test names, </a:t>
            </a:r>
            <a:r>
              <a:rPr kumimoji="0" lang="en-US" altLang="en-US" sz="29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num_rois</a:t>
            </a:r>
            <a:r>
              <a:rPr kumimoji="0" lang="en-US" altLang="en-US" sz="29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labels).</a:t>
            </a:r>
          </a:p>
          <a:p>
            <a:pPr marL="457200" marR="0" lvl="0" indent="-457200" algn="l" defTabSz="914400" rtl="0" eaLnBrk="0" fontAlgn="base" latinLnBrk="0" hangingPunct="0">
              <a:lnSpc>
                <a:spcPct val="170000"/>
              </a:lnSpc>
              <a:spcBef>
                <a:spcPct val="0"/>
              </a:spcBef>
              <a:spcAft>
                <a:spcPct val="0"/>
              </a:spcAft>
              <a:buClrTx/>
              <a:buSzTx/>
              <a:buFont typeface="Wingdings" panose="05000000000000000000" pitchFamily="2" charset="2"/>
              <a:buChar char="§"/>
              <a:tabLst/>
            </a:pPr>
            <a:r>
              <a:rPr kumimoji="0" lang="en-US" altLang="en-US" sz="29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Export : </a:t>
            </a:r>
            <a:r>
              <a:rPr kumimoji="0" lang="en-US" altLang="en-US" sz="29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zip results and provide download (ROI images, annotated image, mask, predictions CSV, and inference log).</a:t>
            </a:r>
          </a:p>
          <a:p>
            <a:endParaRPr lang="en-IN" dirty="0"/>
          </a:p>
        </p:txBody>
      </p:sp>
      <p:sp>
        <p:nvSpPr>
          <p:cNvPr id="4" name="Picture Placeholder 3">
            <a:extLst>
              <a:ext uri="{FF2B5EF4-FFF2-40B4-BE49-F238E27FC236}">
                <a16:creationId xmlns:a16="http://schemas.microsoft.com/office/drawing/2014/main" id="{FC983AA9-9F31-62B2-4E80-9829D2782DB4}"/>
              </a:ext>
            </a:extLst>
          </p:cNvPr>
          <p:cNvSpPr>
            <a:spLocks noGrp="1"/>
          </p:cNvSpPr>
          <p:nvPr>
            <p:ph type="pic" sz="quarter" idx="14"/>
          </p:nvPr>
        </p:nvSpPr>
        <p:spPr/>
      </p:sp>
      <p:sp>
        <p:nvSpPr>
          <p:cNvPr id="5" name="Slide Number Placeholder 4">
            <a:extLst>
              <a:ext uri="{FF2B5EF4-FFF2-40B4-BE49-F238E27FC236}">
                <a16:creationId xmlns:a16="http://schemas.microsoft.com/office/drawing/2014/main" id="{3C23D939-DA3D-3793-0023-B24E03EBBEDA}"/>
              </a:ext>
            </a:extLst>
          </p:cNvPr>
          <p:cNvSpPr>
            <a:spLocks noGrp="1"/>
          </p:cNvSpPr>
          <p:nvPr>
            <p:ph type="sldNum" sz="quarter" idx="10"/>
          </p:nvPr>
        </p:nvSpPr>
        <p:spPr/>
        <p:txBody>
          <a:bodyPr/>
          <a:lstStyle/>
          <a:p>
            <a:fld id="{48F63A3B-78C7-47BE-AE5E-E10140E04643}" type="slidenum">
              <a:rPr lang="en-US" sz="1800" smtClean="0"/>
              <a:pPr/>
              <a:t>8</a:t>
            </a:fld>
            <a:endParaRPr lang="en-US" sz="1800" dirty="0"/>
          </a:p>
        </p:txBody>
      </p:sp>
    </p:spTree>
    <p:extLst>
      <p:ext uri="{BB962C8B-B14F-4D97-AF65-F5344CB8AC3E}">
        <p14:creationId xmlns:p14="http://schemas.microsoft.com/office/powerpoint/2010/main" val="1384220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219E8-A691-D5CC-6975-6A31AEE093AF}"/>
              </a:ext>
            </a:extLst>
          </p:cNvPr>
          <p:cNvSpPr>
            <a:spLocks noGrp="1"/>
          </p:cNvSpPr>
          <p:nvPr>
            <p:ph type="title"/>
          </p:nvPr>
        </p:nvSpPr>
        <p:spPr>
          <a:xfrm>
            <a:off x="914400" y="717756"/>
            <a:ext cx="10511627" cy="786579"/>
          </a:xfrm>
        </p:spPr>
        <p:txBody>
          <a:bodyPr/>
          <a:lstStyle/>
          <a:p>
            <a:r>
              <a:rPr lang="en-US" dirty="0">
                <a:solidFill>
                  <a:srgbClr val="202C8F"/>
                </a:solidFill>
                <a:latin typeface="Arial Black (Headings)"/>
                <a:cs typeface="Times New Roman" panose="02020603050405020304" pitchFamily="18" charset="0"/>
              </a:rPr>
              <a:t>Model training and evaluation</a:t>
            </a:r>
            <a:endParaRPr lang="en-IN" dirty="0"/>
          </a:p>
        </p:txBody>
      </p:sp>
      <p:sp>
        <p:nvSpPr>
          <p:cNvPr id="3" name="Content Placeholder 2">
            <a:extLst>
              <a:ext uri="{FF2B5EF4-FFF2-40B4-BE49-F238E27FC236}">
                <a16:creationId xmlns:a16="http://schemas.microsoft.com/office/drawing/2014/main" id="{603252A2-C3AD-B8D7-930B-31A3E1FC65D3}"/>
              </a:ext>
            </a:extLst>
          </p:cNvPr>
          <p:cNvSpPr>
            <a:spLocks noGrp="1"/>
          </p:cNvSpPr>
          <p:nvPr>
            <p:ph sz="quarter" idx="4"/>
          </p:nvPr>
        </p:nvSpPr>
        <p:spPr>
          <a:xfrm>
            <a:off x="422788" y="1848465"/>
            <a:ext cx="11385754" cy="4896464"/>
          </a:xfrm>
        </p:spPr>
        <p:txBody>
          <a:bodyPr>
            <a:normAutofit fontScale="92500" lnSpcReduction="10000"/>
          </a:bodyPr>
          <a:lstStyle/>
          <a:p>
            <a:pPr marL="0" indent="0">
              <a:lnSpc>
                <a:spcPct val="170000"/>
              </a:lnSpc>
              <a:buNone/>
            </a:pP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We trained an EfficientNet-B4 classifier on ROIs cropped from difference masks. Images were Pre-processed to 128×128, normalized with ImageNet stats and augmented (rotations / flips). Training used PY-Torch with the Adam optimizer. The trained model is integrated into the inference backend and used to label cropped ROIs produced by the subtraction + morphology pipeline.</a:t>
            </a:r>
          </a:p>
          <a:p>
            <a:pPr marL="0" indent="0">
              <a:lnSpc>
                <a:spcPct val="170000"/>
              </a:lnSpc>
              <a:buNone/>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Key training configuration: </a:t>
            </a:r>
          </a:p>
          <a:p>
            <a:pPr>
              <a:lnSpc>
                <a:spcPct val="170000"/>
              </a:lnSpc>
              <a:buFont typeface="Arial" panose="020B0604020202020204" pitchFamily="34" charset="0"/>
              <a:buChar char="•"/>
            </a:pP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Framework: PY-Torch + Timm EfficientNet-B4</a:t>
            </a:r>
          </a:p>
          <a:p>
            <a:pPr>
              <a:lnSpc>
                <a:spcPct val="170000"/>
              </a:lnSpc>
              <a:buFont typeface="Arial" panose="020B0604020202020204" pitchFamily="34" charset="0"/>
              <a:buChar char="•"/>
            </a:pP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Input: ROI crops resized to 128 × 128</a:t>
            </a:r>
          </a:p>
          <a:p>
            <a:pPr>
              <a:lnSpc>
                <a:spcPct val="170000"/>
              </a:lnSpc>
              <a:buFont typeface="Arial" panose="020B0604020202020204" pitchFamily="34" charset="0"/>
              <a:buChar char="•"/>
            </a:pP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Optimizer: Adam</a:t>
            </a:r>
          </a:p>
          <a:p>
            <a:pPr>
              <a:lnSpc>
                <a:spcPct val="170000"/>
              </a:lnSpc>
              <a:buFont typeface="Arial" panose="020B0604020202020204" pitchFamily="34" charset="0"/>
              <a:buChar char="•"/>
            </a:pP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Learning rate: 2e-4, Batch size: 16, Epochs: 6</a:t>
            </a:r>
          </a:p>
          <a:p>
            <a:pPr marL="0" indent="0">
              <a:lnSpc>
                <a:spcPct val="120000"/>
              </a:lnSpc>
              <a:buNone/>
            </a:pPr>
            <a:endParaRPr lang="en-IN" sz="21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7043D7-9627-B6B0-0E2D-FE4BB8E467DA}"/>
              </a:ext>
            </a:extLst>
          </p:cNvPr>
          <p:cNvSpPr>
            <a:spLocks noGrp="1"/>
          </p:cNvSpPr>
          <p:nvPr>
            <p:ph type="sldNum" sz="quarter" idx="10"/>
          </p:nvPr>
        </p:nvSpPr>
        <p:spPr/>
        <p:txBody>
          <a:bodyPr/>
          <a:lstStyle/>
          <a:p>
            <a:fld id="{48F63A3B-78C7-47BE-AE5E-E10140E04643}" type="slidenum">
              <a:rPr lang="en-US" sz="1800" smtClean="0"/>
              <a:pPr/>
              <a:t>9</a:t>
            </a:fld>
            <a:endParaRPr lang="en-US" sz="1800" dirty="0"/>
          </a:p>
        </p:txBody>
      </p:sp>
    </p:spTree>
    <p:extLst>
      <p:ext uri="{BB962C8B-B14F-4D97-AF65-F5344CB8AC3E}">
        <p14:creationId xmlns:p14="http://schemas.microsoft.com/office/powerpoint/2010/main" val="1419653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E6386-766E-BDF9-BECA-F881C44ABBDB}"/>
              </a:ext>
            </a:extLst>
          </p:cNvPr>
          <p:cNvSpPr>
            <a:spLocks noGrp="1"/>
          </p:cNvSpPr>
          <p:nvPr>
            <p:ph type="title"/>
          </p:nvPr>
        </p:nvSpPr>
        <p:spPr>
          <a:xfrm>
            <a:off x="914400" y="593377"/>
            <a:ext cx="10511627" cy="930624"/>
          </a:xfrm>
        </p:spPr>
        <p:txBody>
          <a:bodyPr/>
          <a:lstStyle/>
          <a:p>
            <a:r>
              <a:rPr lang="en-US" dirty="0">
                <a:solidFill>
                  <a:srgbClr val="202C8F"/>
                </a:solidFill>
                <a:latin typeface="Arial Black (Headings)"/>
                <a:cs typeface="Times New Roman" panose="02020603050405020304" pitchFamily="18" charset="0"/>
              </a:rPr>
              <a:t>Model training and evaluation</a:t>
            </a:r>
            <a:endParaRPr lang="en-IN" dirty="0"/>
          </a:p>
        </p:txBody>
      </p:sp>
      <p:sp>
        <p:nvSpPr>
          <p:cNvPr id="3" name="Content Placeholder 2">
            <a:extLst>
              <a:ext uri="{FF2B5EF4-FFF2-40B4-BE49-F238E27FC236}">
                <a16:creationId xmlns:a16="http://schemas.microsoft.com/office/drawing/2014/main" id="{CFB4AF34-DE53-C8B4-25CE-1502848896D3}"/>
              </a:ext>
            </a:extLst>
          </p:cNvPr>
          <p:cNvSpPr>
            <a:spLocks noGrp="1"/>
          </p:cNvSpPr>
          <p:nvPr>
            <p:ph sz="quarter" idx="4"/>
          </p:nvPr>
        </p:nvSpPr>
        <p:spPr>
          <a:xfrm>
            <a:off x="914400" y="1966453"/>
            <a:ext cx="10511627" cy="4298172"/>
          </a:xfrm>
        </p:spPr>
        <p:txBody>
          <a:bodyPr>
            <a:normAutofit/>
          </a:bodyPr>
          <a:lstStyle/>
          <a:p>
            <a:pPr>
              <a:lnSpc>
                <a:spcPct val="170000"/>
              </a:lnSpc>
              <a:buFont typeface="Arial" panose="020B0604020202020204" pitchFamily="34" charset="0"/>
              <a:buChar char="•"/>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Loss: Cross-entropy</a:t>
            </a:r>
          </a:p>
          <a:p>
            <a:pPr>
              <a:lnSpc>
                <a:spcPct val="170000"/>
              </a:lnSpc>
              <a:buFont typeface="Arial" panose="020B0604020202020204" pitchFamily="34" charset="0"/>
              <a:buChar char="•"/>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Data: ROI images and labels extracted from dataset annotations</a:t>
            </a:r>
            <a:endParaRPr lang="en-IN" sz="18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nSpc>
                <a:spcPct val="120000"/>
              </a:lnSpc>
              <a:buNone/>
            </a:pP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Evaluation &amp; metrics :</a:t>
            </a:r>
          </a:p>
          <a:p>
            <a:pPr>
              <a:lnSpc>
                <a:spcPct val="150000"/>
              </a:lnSpc>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Validation accuracy: ~92–93%; Test accuracy: ~92%</a:t>
            </a:r>
          </a:p>
          <a:p>
            <a:pPr>
              <a:lnSpc>
                <a:spcPct val="150000"/>
              </a:lnSpc>
              <a:buFont typeface="Arial" panose="020B0604020202020204" pitchFamily="34" charset="0"/>
              <a:buChar char="•"/>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Primary metrics reported per class: Precision, Recall, F1-score</a:t>
            </a:r>
          </a:p>
          <a:p>
            <a:pPr>
              <a:lnSpc>
                <a:spcPct val="150000"/>
              </a:lnSpc>
              <a:buFont typeface="Arial" panose="020B0604020202020204" pitchFamily="34" charset="0"/>
              <a:buChar char="•"/>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Confusion matrix to visualize inter-class confusions</a:t>
            </a:r>
          </a:p>
          <a:p>
            <a:pPr>
              <a:lnSpc>
                <a:spcPct val="150000"/>
              </a:lnSpc>
              <a:buFont typeface="Arial" panose="020B0604020202020204" pitchFamily="34" charset="0"/>
              <a:buChar char="•"/>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Model demonstrates strong recall for most classes; occasional confusion between visually-similar defects (e.g., Spur vs Spurious-copper)</a:t>
            </a:r>
          </a:p>
          <a:p>
            <a:endParaRPr lang="en-IN" dirty="0"/>
          </a:p>
        </p:txBody>
      </p:sp>
      <p:sp>
        <p:nvSpPr>
          <p:cNvPr id="4" name="Slide Number Placeholder 3">
            <a:extLst>
              <a:ext uri="{FF2B5EF4-FFF2-40B4-BE49-F238E27FC236}">
                <a16:creationId xmlns:a16="http://schemas.microsoft.com/office/drawing/2014/main" id="{FFC72DB4-A6C9-59AF-E099-38D4DB308463}"/>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1452002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275303"/>
            <a:ext cx="7843837" cy="529089"/>
          </a:xfrm>
        </p:spPr>
        <p:txBody>
          <a:bodyPr/>
          <a:lstStyle/>
          <a:p>
            <a:pPr algn="ctr"/>
            <a:r>
              <a:rPr lang="en-US" dirty="0">
                <a:solidFill>
                  <a:srgbClr val="202C8F"/>
                </a:solidFill>
                <a:latin typeface="Arial Black (Headings)"/>
                <a:cs typeface="Times New Roman" panose="02020603050405020304" pitchFamily="18" charset="0"/>
              </a:rPr>
              <a:t>Conclusion</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383458" y="1278195"/>
            <a:ext cx="11042569" cy="5304502"/>
          </a:xfrm>
        </p:spPr>
        <p:txBody>
          <a:bodyPr>
            <a:normAutofit/>
          </a:bodyPr>
          <a:lstStyle/>
          <a:p>
            <a:pPr>
              <a:lnSpc>
                <a:spcPct val="150000"/>
              </a:lnSpc>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AI-Circuit Guard delivers an end-to-end, modular solution for PCB defect detection: preprocessing, mask generation, ROI extraction and Efficient NetB4-based classification integrated through a Stream-lit frontend. The system provides reproducible, logged outputs and exportable artifacts (annotated images, masks, ROIs, CSVs). With further dataset-specific tuning and additional training data, the system can be production-hardened for automatic PCB QA.</a:t>
            </a:r>
          </a:p>
          <a:p>
            <a:pPr>
              <a:lnSpc>
                <a:spcPct val="150000"/>
              </a:lnSpc>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Slide bullets</a:t>
            </a:r>
          </a:p>
          <a:p>
            <a:pPr>
              <a:lnSpc>
                <a:spcPct val="150000"/>
              </a:lnSpc>
              <a:buFont typeface="Arial" panose="020B0604020202020204" pitchFamily="34" charset="0"/>
              <a:buChar char="•"/>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Modular, maintainable pipeline with clear inputs/outputs</a:t>
            </a:r>
          </a:p>
          <a:p>
            <a:pPr>
              <a:lnSpc>
                <a:spcPct val="150000"/>
              </a:lnSpc>
              <a:buFont typeface="Arial" panose="020B0604020202020204" pitchFamily="34" charset="0"/>
              <a:buChar char="•"/>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Achieved ~92% classification accuracy on test set</a:t>
            </a:r>
          </a:p>
          <a:p>
            <a:pPr>
              <a:lnSpc>
                <a:spcPct val="150000"/>
              </a:lnSpc>
              <a:buFont typeface="Arial" panose="020B0604020202020204" pitchFamily="34" charset="0"/>
              <a:buChar char="•"/>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Exportable artifacts: annotated image, mask, rois, predictions CSV, inference log</a:t>
            </a:r>
          </a:p>
          <a:p>
            <a:pPr>
              <a:lnSpc>
                <a:spcPct val="150000"/>
              </a:lnSpc>
              <a:buFont typeface="Arial" panose="020B0604020202020204" pitchFamily="34" charset="0"/>
              <a:buChar char="•"/>
            </a:pP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UI provides easy parameter tuning to balance sensitivity vs false positives</a:t>
            </a:r>
          </a:p>
          <a:p>
            <a:endParaRPr lang="en-US" dirty="0"/>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z="1800" smtClean="0"/>
              <a:pPr/>
              <a:t>11</a:t>
            </a:fld>
            <a:endParaRPr lang="en-US" sz="1800" dirty="0"/>
          </a:p>
        </p:txBody>
      </p:sp>
    </p:spTree>
    <p:extLst>
      <p:ext uri="{BB962C8B-B14F-4D97-AF65-F5344CB8AC3E}">
        <p14:creationId xmlns:p14="http://schemas.microsoft.com/office/powerpoint/2010/main" val="4072101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C7A5B-B210-B3F2-5575-63C41485D8B9}"/>
              </a:ext>
            </a:extLst>
          </p:cNvPr>
          <p:cNvSpPr>
            <a:spLocks noGrp="1"/>
          </p:cNvSpPr>
          <p:nvPr>
            <p:ph type="title"/>
          </p:nvPr>
        </p:nvSpPr>
        <p:spPr>
          <a:xfrm>
            <a:off x="914400" y="717756"/>
            <a:ext cx="10511627" cy="865238"/>
          </a:xfrm>
        </p:spPr>
        <p:txBody>
          <a:bodyPr/>
          <a:lstStyle/>
          <a:p>
            <a:br>
              <a:rPr lang="en-US" dirty="0"/>
            </a:br>
            <a:br>
              <a:rPr lang="en-US" dirty="0"/>
            </a:br>
            <a:br>
              <a:rPr lang="en-US" dirty="0"/>
            </a:br>
            <a:r>
              <a:rPr lang="en-US" dirty="0"/>
              <a:t>Future scope</a:t>
            </a:r>
            <a:endParaRPr lang="en-IN" dirty="0"/>
          </a:p>
        </p:txBody>
      </p:sp>
      <p:sp>
        <p:nvSpPr>
          <p:cNvPr id="4" name="Slide Number Placeholder 3">
            <a:extLst>
              <a:ext uri="{FF2B5EF4-FFF2-40B4-BE49-F238E27FC236}">
                <a16:creationId xmlns:a16="http://schemas.microsoft.com/office/drawing/2014/main" id="{4134C413-7ED5-E433-AE07-1ADF9BB8830D}"/>
              </a:ext>
            </a:extLst>
          </p:cNvPr>
          <p:cNvSpPr>
            <a:spLocks noGrp="1"/>
          </p:cNvSpPr>
          <p:nvPr>
            <p:ph type="sldNum" sz="quarter" idx="10"/>
          </p:nvPr>
        </p:nvSpPr>
        <p:spPr/>
        <p:txBody>
          <a:bodyPr/>
          <a:lstStyle/>
          <a:p>
            <a:fld id="{48F63A3B-78C7-47BE-AE5E-E10140E04643}" type="slidenum">
              <a:rPr lang="en-US" sz="1800" smtClean="0"/>
              <a:pPr/>
              <a:t>12</a:t>
            </a:fld>
            <a:endParaRPr lang="en-US" sz="1800" dirty="0"/>
          </a:p>
        </p:txBody>
      </p:sp>
      <p:sp>
        <p:nvSpPr>
          <p:cNvPr id="5" name="Rectangle 1">
            <a:extLst>
              <a:ext uri="{FF2B5EF4-FFF2-40B4-BE49-F238E27FC236}">
                <a16:creationId xmlns:a16="http://schemas.microsoft.com/office/drawing/2014/main" id="{E47045AC-5630-F857-E6A4-C8ED87823237}"/>
              </a:ext>
            </a:extLst>
          </p:cNvPr>
          <p:cNvSpPr>
            <a:spLocks noGrp="1" noChangeArrowheads="1"/>
          </p:cNvSpPr>
          <p:nvPr>
            <p:ph sz="quarter" idx="4"/>
          </p:nvPr>
        </p:nvSpPr>
        <p:spPr bwMode="auto">
          <a:xfrm>
            <a:off x="914400" y="3230312"/>
            <a:ext cx="8975983"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Collect more labeled samples per defect class (reduce class imbalance)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Ensemble multiple models or use segmentation models (U-Net) for per-pixel defect masks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Add a confidence threshold and “human-in-the-loop” review for low-confidence ROIs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Performance optimizations: batch ROI classification, GPU support, and ONNX export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Add user authentication, database backend and REST API for integration into QA pipelines</a:t>
            </a:r>
          </a:p>
        </p:txBody>
      </p:sp>
    </p:spTree>
    <p:extLst>
      <p:ext uri="{BB962C8B-B14F-4D97-AF65-F5344CB8AC3E}">
        <p14:creationId xmlns:p14="http://schemas.microsoft.com/office/powerpoint/2010/main" val="683792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51D0C8-1519-C55A-80AC-B19FE51C6AD5}"/>
              </a:ext>
            </a:extLst>
          </p:cNvPr>
          <p:cNvSpPr>
            <a:spLocks noGrp="1"/>
          </p:cNvSpPr>
          <p:nvPr>
            <p:ph type="title"/>
          </p:nvPr>
        </p:nvSpPr>
        <p:spPr>
          <a:xfrm>
            <a:off x="876939" y="2285017"/>
            <a:ext cx="10671048" cy="2021512"/>
          </a:xfrm>
        </p:spPr>
        <p:txBody>
          <a:bodyPr/>
          <a:lstStyle/>
          <a:p>
            <a:br>
              <a:rPr lang="en-IN" sz="6600" dirty="0"/>
            </a:br>
            <a:r>
              <a:rPr lang="en-IN" sz="6600" dirty="0"/>
              <a:t>Thank you</a:t>
            </a:r>
          </a:p>
        </p:txBody>
      </p:sp>
      <p:sp>
        <p:nvSpPr>
          <p:cNvPr id="2" name="Slide Number Placeholder 1">
            <a:extLst>
              <a:ext uri="{FF2B5EF4-FFF2-40B4-BE49-F238E27FC236}">
                <a16:creationId xmlns:a16="http://schemas.microsoft.com/office/drawing/2014/main" id="{672291C4-FD34-578E-0CFB-8398CBF65E39}"/>
              </a:ext>
            </a:extLst>
          </p:cNvPr>
          <p:cNvSpPr>
            <a:spLocks noGrp="1"/>
          </p:cNvSpPr>
          <p:nvPr>
            <p:ph type="sldNum" sz="quarter" idx="12"/>
          </p:nvPr>
        </p:nvSpPr>
        <p:spPr/>
        <p:txBody>
          <a:bodyPr/>
          <a:lstStyle/>
          <a:p>
            <a:fld id="{48F63A3B-78C7-47BE-AE5E-E10140E04643}" type="slidenum">
              <a:rPr lang="en-US" sz="1800" smtClean="0">
                <a:latin typeface="Arial Black (Headings)"/>
              </a:rPr>
              <a:pPr/>
              <a:t>13</a:t>
            </a:fld>
            <a:endParaRPr lang="en-US" sz="1800" dirty="0">
              <a:latin typeface="Arial Black (Headings)"/>
            </a:endParaRPr>
          </a:p>
        </p:txBody>
      </p:sp>
    </p:spTree>
    <p:extLst>
      <p:ext uri="{BB962C8B-B14F-4D97-AF65-F5344CB8AC3E}">
        <p14:creationId xmlns:p14="http://schemas.microsoft.com/office/powerpoint/2010/main" val="457759184"/>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{685E02C7-AD54-4045-95D5-FC43379D7898}tf78438558_win32</Template>
  <TotalTime>191</TotalTime>
  <Words>1079</Words>
  <Application>Microsoft Office PowerPoint</Application>
  <PresentationFormat>Widescreen</PresentationFormat>
  <Paragraphs>76</Paragraphs>
  <Slides>13</Slides>
  <Notes>4</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Arial Black</vt:lpstr>
      <vt:lpstr>Arial Black (Headings)</vt:lpstr>
      <vt:lpstr>Calibri</vt:lpstr>
      <vt:lpstr>Sabon Next LT</vt:lpstr>
      <vt:lpstr>Times New Roman</vt:lpstr>
      <vt:lpstr>Wingdings</vt:lpstr>
      <vt:lpstr>Custom</vt:lpstr>
      <vt:lpstr>Circuit Guard-PCB Defect Detection and Classification Application</vt:lpstr>
      <vt:lpstr>PowerPoint Presentation</vt:lpstr>
      <vt:lpstr>Introduction </vt:lpstr>
      <vt:lpstr>Problem Statement</vt:lpstr>
      <vt:lpstr>Objective</vt:lpstr>
      <vt:lpstr>System Architecture . </vt:lpstr>
      <vt:lpstr>methodology</vt:lpstr>
      <vt:lpstr>methodology</vt:lpstr>
      <vt:lpstr>Model training and evaluation</vt:lpstr>
      <vt:lpstr>Model training and evaluation</vt:lpstr>
      <vt:lpstr>Conclusion</vt:lpstr>
      <vt:lpstr>   Future scope</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NOUSHEEN MD</dc:creator>
  <cp:lastModifiedBy>NOUSHEEN MD</cp:lastModifiedBy>
  <cp:revision>10</cp:revision>
  <dcterms:created xsi:type="dcterms:W3CDTF">2025-10-09T13:20:46Z</dcterms:created>
  <dcterms:modified xsi:type="dcterms:W3CDTF">2025-10-10T15:14:28Z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